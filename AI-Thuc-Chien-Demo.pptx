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88af44f6b84ccf" /><Relationship Type="http://schemas.openxmlformats.org/officeDocument/2006/relationships/extended-properties" Target="/docProps/app.xml" Id="Rf05c009c08d34a1c" /><Relationship Type="http://schemas.openxmlformats.org/officeDocument/2006/relationships/officeDocument" Target="/ppt/presentation.xml" Id="R887177109a754678" /></Relationships>
</file>

<file path=ppt/presentation.xml><?xml version="1.0" encoding="utf-8"?>
<p:presentation xmlns:p="http://schemas.openxmlformats.org/presentationml/2006/main">
  <p:sldMasterIdLst>
    <p:sldMasterId xmlns:r="http://schemas.openxmlformats.org/officeDocument/2006/relationships" id="2147483648" r:id="R6247f670c47045e2"/>
  </p:sldMasterIdLst>
  <p:notesMasterIdLst>
    <p:notesMasterId xmlns:r="http://schemas.openxmlformats.org/officeDocument/2006/relationships" r:id="R00d1a190335f448d"/>
  </p:notesMasterIdLst>
  <p:sldIdLst>
    <p:sldId xmlns:r="http://schemas.openxmlformats.org/officeDocument/2006/relationships" id="256" r:id="Rc0e0ba1d5d6847b5"/>
    <p:sldId xmlns:r="http://schemas.openxmlformats.org/officeDocument/2006/relationships" id="257" r:id="R4018962c1fe14cf9"/>
    <p:sldId xmlns:r="http://schemas.openxmlformats.org/officeDocument/2006/relationships" id="258" r:id="Rb6484a0b179c4182"/>
    <p:sldId xmlns:r="http://schemas.openxmlformats.org/officeDocument/2006/relationships" id="259" r:id="R526846cd221244b2"/>
    <p:sldId xmlns:r="http://schemas.openxmlformats.org/officeDocument/2006/relationships" id="260" r:id="R6d803838a2054d9a"/>
    <p:sldId xmlns:r="http://schemas.openxmlformats.org/officeDocument/2006/relationships" id="261" r:id="R698de4d2abd94168"/>
    <p:sldId xmlns:r="http://schemas.openxmlformats.org/officeDocument/2006/relationships" id="262" r:id="R158932730d4241f4"/>
    <p:sldId xmlns:r="http://schemas.openxmlformats.org/officeDocument/2006/relationships" id="263" r:id="R29d3d44c7aca465a"/>
    <p:sldId xmlns:r="http://schemas.openxmlformats.org/officeDocument/2006/relationships" id="264" r:id="R7db460c3b3ff4b7b"/>
    <p:sldId xmlns:r="http://schemas.openxmlformats.org/officeDocument/2006/relationships" id="265" r:id="Rab9f94ce2ed34b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bea1363fa145db" /><Relationship Type="http://schemas.openxmlformats.org/officeDocument/2006/relationships/slideMaster" Target="/ppt/slideMasters/slideMaster1.xml" Id="R6247f670c47045e2" /><Relationship Type="http://schemas.openxmlformats.org/officeDocument/2006/relationships/notesMaster" Target="/ppt/notesMasters/notesMaster1.xml" Id="R00d1a190335f448d" /><Relationship Type="http://schemas.openxmlformats.org/officeDocument/2006/relationships/presProps" Target="/ppt/presProps.xml" Id="R0d32fc4ee95b45f8" /><Relationship Type="http://schemas.openxmlformats.org/officeDocument/2006/relationships/tableStyles" Target="/ppt/tableStyles.xml" Id="R13dbf41890be491c" /><Relationship Type="http://schemas.openxmlformats.org/officeDocument/2006/relationships/slide" Target="/ppt/slides/slide1.xml" Id="Rc0e0ba1d5d6847b5" /><Relationship Type="http://schemas.openxmlformats.org/officeDocument/2006/relationships/slide" Target="/ppt/slides/slide2.xml" Id="R4018962c1fe14cf9" /><Relationship Type="http://schemas.openxmlformats.org/officeDocument/2006/relationships/slide" Target="/ppt/slides/slide3.xml" Id="Rb6484a0b179c4182" /><Relationship Type="http://schemas.openxmlformats.org/officeDocument/2006/relationships/slide" Target="/ppt/slides/slide4.xml" Id="R526846cd221244b2" /><Relationship Type="http://schemas.openxmlformats.org/officeDocument/2006/relationships/slide" Target="/ppt/slides/slide5.xml" Id="R6d803838a2054d9a" /><Relationship Type="http://schemas.openxmlformats.org/officeDocument/2006/relationships/slide" Target="/ppt/slides/slide6.xml" Id="R698de4d2abd94168" /><Relationship Type="http://schemas.openxmlformats.org/officeDocument/2006/relationships/slide" Target="/ppt/slides/slide7.xml" Id="R158932730d4241f4" /><Relationship Type="http://schemas.openxmlformats.org/officeDocument/2006/relationships/slide" Target="/ppt/slides/slide8.xml" Id="R29d3d44c7aca465a" /><Relationship Type="http://schemas.openxmlformats.org/officeDocument/2006/relationships/slide" Target="/ppt/slides/slide9.xml" Id="R7db460c3b3ff4b7b" /><Relationship Type="http://schemas.openxmlformats.org/officeDocument/2006/relationships/slide" Target="/ppt/slides/slide10.xml" Id="Rab9f94ce2ed34b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d7d68cd07046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ffc4e5f4884285" /><Relationship Type="http://schemas.openxmlformats.org/officeDocument/2006/relationships/notesMaster" Target="/ppt/notesMasters/notesMaster1.xml" Id="R0fb6f8114ef74c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9817249fe64079" /><Relationship Type="http://schemas.openxmlformats.org/officeDocument/2006/relationships/notesMaster" Target="/ppt/notesMasters/notesMaster1.xml" Id="Rff7602a2781e4a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8b1a317a744cac" /><Relationship Type="http://schemas.openxmlformats.org/officeDocument/2006/relationships/notesMaster" Target="/ppt/notesMasters/notesMaster1.xml" Id="Ra78e991a1d4d45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a71f317e144303" /><Relationship Type="http://schemas.openxmlformats.org/officeDocument/2006/relationships/notesMaster" Target="/ppt/notesMasters/notesMaster1.xml" Id="R6d7c88dd371149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28cbe673364060" /><Relationship Type="http://schemas.openxmlformats.org/officeDocument/2006/relationships/notesMaster" Target="/ppt/notesMasters/notesMaster1.xml" Id="Rccef796f344d4c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653b664bc3428b" /><Relationship Type="http://schemas.openxmlformats.org/officeDocument/2006/relationships/notesMaster" Target="/ppt/notesMasters/notesMaster1.xml" Id="R0d2778f50fb743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b4f344262748a4" /><Relationship Type="http://schemas.openxmlformats.org/officeDocument/2006/relationships/notesMaster" Target="/ppt/notesMasters/notesMaster1.xml" Id="Re58c25b7c30c44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9852428e3841b8" /><Relationship Type="http://schemas.openxmlformats.org/officeDocument/2006/relationships/notesMaster" Target="/ppt/notesMasters/notesMaster1.xml" Id="R17dc2fab1f7d43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2b1842962744f2" /><Relationship Type="http://schemas.openxmlformats.org/officeDocument/2006/relationships/notesMaster" Target="/ppt/notesMasters/notesMaster1.xml" Id="R2ce0483399f543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3d067f851744f2" /><Relationship Type="http://schemas.openxmlformats.org/officeDocument/2006/relationships/notesMaster" Target="/ppt/notesMasters/notesMaster1.xml" Id="R09e7047ae8d840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bằng đối tượng người dùng: sinh viên đang tìm hiểu, chuẩn bị dự tuyển hoặc sắp tham gia chương trình.</a:t>
            </a:r>
          </a:p>
          <a:p xmlns:a="http://schemas.openxmlformats.org/drawingml/2006/main">
            <a:r>
              <a:t/>
            </a:r>
          </a:p>
          <a:p xmlns:a="http://schemas.openxmlformats.org/drawingml/2006/main">
            <a:r>
              <a:t>[Sources]</a:t>
            </a:r>
          </a:p>
          <a:p xmlns:a="http://schemas.openxmlformats.org/drawingml/2006/main">
            <a:r>
              <a:t>- README.md — product scope and team.</a:t>
            </a:r>
          </a:p>
          <a:p xmlns:a="http://schemas.openxmlformats.org/drawingml/2006/main">
            <a:r>
              <a:t>- public/images/auth-campus-ai.png and ai-program-logo.png — project-owned 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không dùng tỷ lệ sẵn sàng sử dụng vì khảo sát chưa đo trực tiếp.</a:t>
            </a:r>
          </a:p>
          <a:p xmlns:a="http://schemas.openxmlformats.org/drawingml/2006/main">
            <a:r>
              <a:t/>
            </a:r>
          </a:p>
          <a:p xmlns:a="http://schemas.openxmlformats.org/drawingml/2006/main">
            <a:r>
              <a:t>[Sources]</a:t>
            </a:r>
          </a:p>
          <a:p xmlns:a="http://schemas.openxmlformats.org/drawingml/2006/main">
            <a:r>
              <a:t>- spec.md §1–§2 — survey n=44, metrics 40/44, 29/44, 15/44 and quote HV27.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điểm khác biệt cốt lõi: không tối ưu cho trả lời mọi câu hỏi, mà tối ưu cho quyết định an toàn.</a:t>
            </a:r>
          </a:p>
          <a:p xmlns:a="http://schemas.openxmlformats.org/drawingml/2006/main">
            <a:r>
              <a:t/>
            </a:r>
          </a:p>
          <a:p xmlns:a="http://schemas.openxmlformats.org/drawingml/2006/main">
            <a:r>
              <a:t>[Sources]</a:t>
            </a:r>
          </a:p>
          <a:p xmlns:a="http://schemas.openxmlformats.org/drawingml/2006/main">
            <a:r>
              <a:t>- spec.md §2–§4 — chosen solution, working prototype boundary and conditional automation.</a:t>
            </a:r>
          </a:p>
          <a:p xmlns:a="http://schemas.openxmlformats.org/drawingml/2006/main">
            <a:r>
              <a:t>- README.md — grounded answers, official tools and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bốn route này để dẫn vào demo: câu bình thường, câu thiếu dữ kiện và câu ngoài thẩm quyền.</a:t>
            </a:r>
          </a:p>
          <a:p xmlns:a="http://schemas.openxmlformats.org/drawingml/2006/main">
            <a:r>
              <a:t/>
            </a:r>
          </a:p>
          <a:p xmlns:a="http://schemas.openxmlformats.org/drawingml/2006/main">
            <a:r>
              <a:t>[Sources]</a:t>
            </a:r>
          </a:p>
          <a:p xmlns:a="http://schemas.openxmlformats.org/drawingml/2006/main">
            <a:r>
              <a:t>- spec.md §5–§6 — happy path, low-confidence, failure, correction and authority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rõ: đây là lightweight RAG, chưa dùng vector database hay embeddings.</a:t>
            </a:r>
          </a:p>
          <a:p xmlns:a="http://schemas.openxmlformats.org/drawingml/2006/main">
            <a:r>
              <a:t/>
            </a:r>
          </a:p>
          <a:p xmlns:a="http://schemas.openxmlformats.org/drawingml/2006/main">
            <a:r>
              <a:t>[Sources]</a:t>
            </a:r>
          </a:p>
          <a:p xmlns:a="http://schemas.openxmlformats.org/drawingml/2006/main">
            <a:r>
              <a:t>- app/lib/knowledge.ts — Markdown chunking and retrieval.</a:t>
            </a:r>
          </a:p>
          <a:p xmlns:a="http://schemas.openxmlformats.org/drawingml/2006/main">
            <a:r>
              <a:t>- app/lib/official-tools.ts — Tavily/Firecrawl and official-domain allowlist.</a:t>
            </a:r>
          </a:p>
          <a:p xmlns:a="http://schemas.openxmlformats.org/drawingml/2006/main">
            <a:r>
              <a:t>- app/api/chat/route.ts — context merge, Gemini and decision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đăng nhập trong demo; sau khi reload, màn hình giả lập xuất hiện lại.</a:t>
            </a:r>
          </a:p>
          <a:p xmlns:a="http://schemas.openxmlformats.org/drawingml/2006/main">
            <a:r>
              <a:t/>
            </a:r>
          </a:p>
          <a:p xmlns:a="http://schemas.openxmlformats.org/drawingml/2006/main">
            <a:r>
              <a:t>[Sources]</a:t>
            </a:r>
          </a:p>
          <a:p xmlns:a="http://schemas.openxmlformats.org/drawingml/2006/main">
            <a:r>
              <a:t>- tmp/demo-deck/assets/login-screen.png — locally captured product UI.</a:t>
            </a:r>
          </a:p>
          <a:p xmlns:a="http://schemas.openxmlformats.org/drawingml/2006/main">
            <a:r>
              <a:t>- app/ui/AuthWelcome.tsx and app/ui/ChatApp.tsx — demo auth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slide này chuyển sang live demo câu hỏi bình thường.</a:t>
            </a:r>
          </a:p>
          <a:p xmlns:a="http://schemas.openxmlformats.org/drawingml/2006/main">
            <a:r>
              <a:t/>
            </a:r>
          </a:p>
          <a:p xmlns:a="http://schemas.openxmlformats.org/drawingml/2006/main">
            <a:r>
              <a:t>[Sources]</a:t>
            </a:r>
          </a:p>
          <a:p xmlns:a="http://schemas.openxmlformats.org/drawingml/2006/main">
            <a:r>
              <a:t>- tmp/demo-deck/assets/chat-screen.png — locally captured product UI.</a:t>
            </a:r>
          </a:p>
          <a:p xmlns:a="http://schemas.openxmlformats.org/drawingml/2006/main">
            <a:r>
              <a:t>- README.md — feature inventory.</a:t>
            </a:r>
          </a:p>
          <a:p xmlns:a="http://schemas.openxmlformats.org/drawingml/2006/main">
            <a:r>
              <a:t>- app/ui/ChatApp.tsx — readiness, citations, follow-ups and state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một yêu cầu ngoài phạm vi để cho thấy hệ thống không giả lập hành động.</a:t>
            </a:r>
          </a:p>
          <a:p xmlns:a="http://schemas.openxmlformats.org/drawingml/2006/main">
            <a:r>
              <a:t/>
            </a:r>
          </a:p>
          <a:p xmlns:a="http://schemas.openxmlformats.org/drawingml/2006/main">
            <a:r>
              <a:t>[Sources]</a:t>
            </a:r>
          </a:p>
          <a:p xmlns:a="http://schemas.openxmlformats.org/drawingml/2006/main">
            <a:r>
              <a:t>- spec.md §4–§6 — non-goals, conditional automation, HAX/PAIR principles and risk paths.</a:t>
            </a:r>
          </a:p>
          <a:p xmlns:a="http://schemas.openxmlformats.org/drawingml/2006/main">
            <a:r>
              <a:t>- app/lib/product-intelligence.ts — intent and safe routing.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rõ test hạ tầng 4/4 với evaluation chất lượng câu trả lời chưa chạy đầy đủ.</a:t>
            </a:r>
          </a:p>
          <a:p xmlns:a="http://schemas.openxmlformats.org/drawingml/2006/main">
            <a:r>
              <a:t/>
            </a:r>
          </a:p>
          <a:p xmlns:a="http://schemas.openxmlformats.org/drawingml/2006/main">
            <a:r>
              <a:t>[Sources]</a:t>
            </a:r>
          </a:p>
          <a:p xmlns:a="http://schemas.openxmlformats.org/drawingml/2006/main">
            <a:r>
              <a:t>- spec.md §7 — 24-case golden-set design and quality bar.</a:t>
            </a:r>
          </a:p>
          <a:p xmlns:a="http://schemas.openxmlformats.org/drawingml/2006/main">
            <a:r>
              <a:t>- tests/rendered-html.test.mjs — four current automated tests.</a:t>
            </a:r>
          </a:p>
          <a:p xmlns:a="http://schemas.openxmlformats.org/drawingml/2006/main">
            <a:r>
              <a:t>- README.md — test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live demo, sau đó quay lại thông điệp: sản phẩm đáng tin vì biết dừng đúng lúc.</a:t>
            </a:r>
          </a:p>
          <a:p xmlns:a="http://schemas.openxmlformats.org/drawingml/2006/main">
            <a:r>
              <a:t/>
            </a:r>
          </a:p>
          <a:p xmlns:a="http://schemas.openxmlformats.org/drawingml/2006/main">
            <a:r>
              <a:t>[Sources]</a:t>
            </a:r>
          </a:p>
          <a:p xmlns:a="http://schemas.openxmlformats.org/drawingml/2006/main">
            <a:r>
              <a:t>- README.md — team roster.</a:t>
            </a:r>
          </a:p>
          <a:p xmlns:a="http://schemas.openxmlformats.org/drawingml/2006/main">
            <a:r>
              <a:t>- spec.md §6 — experience paths and demonstration scenarios.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f9f73fb7964d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e067bd5f5a40ca" /><Relationship Type="http://schemas.openxmlformats.org/officeDocument/2006/relationships/slideLayout" Target="/ppt/slideLayouts/slideLayout1.xml" Id="R9baaca9ab1aa41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aaca9ab1aa41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94145efcd94000" /><Relationship Type="http://schemas.openxmlformats.org/officeDocument/2006/relationships/image" Target="/ppt/media/image.png" Id="R7f41adb1e4684473" /><Relationship Type="http://schemas.openxmlformats.org/officeDocument/2006/relationships/image" Target="/ppt/media/image2.png" Id="R7406140c16ef4034" /><Relationship Type="http://schemas.openxmlformats.org/officeDocument/2006/relationships/notesSlide" Target="/ppt/notesSlides/notesSlide1.xml" Id="R4b081345dd8c47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11ec90e6fa4613" /><Relationship Type="http://schemas.openxmlformats.org/officeDocument/2006/relationships/notesSlide" Target="/ppt/notesSlides/notesSlide2.xml" Id="Rbc37108ed7c54d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df5cb603104cbe" /><Relationship Type="http://schemas.openxmlformats.org/officeDocument/2006/relationships/notesSlide" Target="/ppt/notesSlides/notesSlide3.xml" Id="R72a889ba2d0e4b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9fea4f556243b6" /><Relationship Type="http://schemas.openxmlformats.org/officeDocument/2006/relationships/notesSlide" Target="/ppt/notesSlides/notesSlide4.xml" Id="R0192f3761d8746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9be5db9de544fd" /><Relationship Type="http://schemas.openxmlformats.org/officeDocument/2006/relationships/notesSlide" Target="/ppt/notesSlides/notesSlide5.xml" Id="Ra75aa1d8f63c4c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2279697ee54061" /><Relationship Type="http://schemas.openxmlformats.org/officeDocument/2006/relationships/image" Target="/ppt/media/image.jpeg" Id="Re11d1845018c4a50" /><Relationship Type="http://schemas.openxmlformats.org/officeDocument/2006/relationships/notesSlide" Target="/ppt/notesSlides/notesSlide6.xml" Id="Rc834ee03955540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b9b0dee956468d" /><Relationship Type="http://schemas.openxmlformats.org/officeDocument/2006/relationships/image" Target="/ppt/media/image2.jpeg" Id="R074132bd380047ef" /><Relationship Type="http://schemas.openxmlformats.org/officeDocument/2006/relationships/notesSlide" Target="/ppt/notesSlides/notesSlide7.xml" Id="R21ca56cabcb245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d111dd2c4a4576" /><Relationship Type="http://schemas.openxmlformats.org/officeDocument/2006/relationships/notesSlide" Target="/ppt/notesSlides/notesSlide8.xml" Id="R9e6405e80afb4e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d89f44e7064572" /><Relationship Type="http://schemas.openxmlformats.org/officeDocument/2006/relationships/notesSlide" Target="/ppt/notesSlides/notesSlide9.xml" Id="R400402b6809f46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c8688852b04c9a" /><Relationship Type="http://schemas.openxmlformats.org/officeDocument/2006/relationships/notesSlide" Target="/ppt/notesSlides/notesSlide10.xml" Id="R61fb21db61334868" /></Relationships>
</file>

<file path=ppt/slides/slide1.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f41adb1e4684473"/>
          <a:srcRect xmlns:a="http://schemas.openxmlformats.org/drawingml/2006/main" l="2579" t="0" r="257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panel">
            <a:extLst xmlns:a="http://schemas.openxmlformats.org/drawingml/2006/main">
              <a:ext uri="{FF2B5EF4-FFF2-40B4-BE49-F238E27FC236}">
                <a16:creationId xmlns:a16="http://schemas.microsoft.com/office/drawing/2014/main" id="{057F7D6D-4424-4217-96F0-61C25D19DA73}"/>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07543E"/>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06140c16ef4034"/>
          <a:srcRect xmlns:a="http://schemas.openxmlformats.org/drawingml/2006/main" l="0" t="0" r="0" b="0"/>
          <a:stretch xmlns:a="http://schemas.openxmlformats.org/drawingml/2006/main">
            <a:fillRect l="0" t="0" r="0" b="0"/>
          </a:stretch>
        </p:blipFill>
        <p:spPr>
          <a:xfrm xmlns:a="http://schemas.openxmlformats.org/drawingml/2006/main">
            <a:off x="628650" y="514350"/>
            <a:ext cx="781050" cy="781050"/>
          </a:xfrm>
          <a:prstGeom xmlns:a="http://schemas.openxmlformats.org/drawingml/2006/main" prst="roundRect">
            <a:avLst>
              <a:gd name="adj" fmla="val 14634"/>
            </a:avLst>
          </a:prstGeom>
        </p:spPr>
      </p:pic>
      <p:sp>
        <p:nvSpPr>
          <p:cNvPr id="4" name="cover-kicker">
            <a:extLst xmlns:a="http://schemas.openxmlformats.org/drawingml/2006/main">
              <a:ext uri="{FF2B5EF4-FFF2-40B4-BE49-F238E27FC236}">
                <a16:creationId xmlns:a16="http://schemas.microsoft.com/office/drawing/2014/main" id="{E9A8D4BA-08D9-45A3-B0B0-162F5B5104BE}"/>
              </a:ext>
            </a:extLst>
          </p:cNvPr>
          <p:cNvSpPr>
            <a:spLocks xmlns:a="http://schemas.openxmlformats.org/drawingml/2006/main" noGrp="1"/>
          </p:cNvSpPr>
          <p:nvPr/>
        </p:nvSpPr>
        <p:spPr>
          <a:xfrm xmlns:a="http://schemas.openxmlformats.org/drawingml/2006/main">
            <a:off x="628650" y="16192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F0B44D"/>
                </a:solidFill>
                <a:latin typeface="Aptos"/>
                <a:ea typeface="Aptos"/>
                <a:cs typeface="Aptos"/>
              </a:defRPr>
            </a:pPr>
            <a:r>
              <a:rPr sz="1200" b="1">
                <a:solidFill>
                  <a:srgbClr val="F0B44D"/>
                </a:solidFill>
                <a:latin typeface="Aptos"/>
                <a:ea typeface="Aptos"/>
                <a:cs typeface="Aptos"/>
              </a:rPr>
              <a:t>TRACK C  ·  WORKING PROTOTYPE</a:t>
            </a:r>
          </a:p>
        </p:txBody>
      </p:sp>
      <p:sp>
        <p:nvSpPr>
          <p:cNvPr id="5" name="cover-title">
            <a:extLst xmlns:a="http://schemas.openxmlformats.org/drawingml/2006/main">
              <a:ext uri="{FF2B5EF4-FFF2-40B4-BE49-F238E27FC236}">
                <a16:creationId xmlns:a16="http://schemas.microsoft.com/office/drawing/2014/main" id="{C8CAC89B-3B67-4A1A-8533-C3C6033CE0C4}"/>
              </a:ext>
            </a:extLst>
          </p:cNvPr>
          <p:cNvSpPr>
            <a:spLocks xmlns:a="http://schemas.openxmlformats.org/drawingml/2006/main" noGrp="1"/>
          </p:cNvSpPr>
          <p:nvPr/>
        </p:nvSpPr>
        <p:spPr>
          <a:xfrm xmlns:a="http://schemas.openxmlformats.org/drawingml/2006/main">
            <a:off x="628650" y="203835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800" b="1">
                <a:solidFill>
                  <a:srgbClr val="FFFFFF"/>
                </a:solidFill>
                <a:latin typeface="Aptos Display"/>
                <a:ea typeface="Aptos Display"/>
                <a:cs typeface="Aptos Display"/>
              </a:defRPr>
            </a:pPr>
            <a:r>
              <a:rPr sz="4800" b="1">
                <a:solidFill>
                  <a:srgbClr val="FFFFFF"/>
                </a:solidFill>
                <a:latin typeface="Aptos Display"/>
                <a:ea typeface="Aptos Display"/>
                <a:cs typeface="Aptos Display"/>
              </a:rPr>
              <a:t>Trợ lý</a:t>
            </a:r>
          </a:p>
          <a:p xmlns:a="http://schemas.openxmlformats.org/drawingml/2006/main">
            <a:pPr algn="l">
              <a:defRPr sz="4800" b="1">
                <a:solidFill>
                  <a:srgbClr val="FFFFFF"/>
                </a:solidFill>
                <a:latin typeface="Aptos Display"/>
                <a:ea typeface="Aptos Display"/>
                <a:cs typeface="Aptos Display"/>
              </a:defRPr>
            </a:pPr>
            <a:r>
              <a:rPr sz="4800" b="1">
                <a:solidFill>
                  <a:srgbClr val="FFFFFF"/>
                </a:solidFill>
                <a:latin typeface="Aptos Display"/>
                <a:ea typeface="Aptos Display"/>
                <a:cs typeface="Aptos Display"/>
              </a:rPr>
              <a:t>AI Thực Chiến</a:t>
            </a:r>
          </a:p>
        </p:txBody>
      </p:sp>
      <p:sp>
        <p:nvSpPr>
          <p:cNvPr id="6" name="cover-subtitle">
            <a:extLst xmlns:a="http://schemas.openxmlformats.org/drawingml/2006/main">
              <a:ext uri="{FF2B5EF4-FFF2-40B4-BE49-F238E27FC236}">
                <a16:creationId xmlns:a16="http://schemas.microsoft.com/office/drawing/2014/main" id="{FC78D302-1848-4C67-8CB4-A5E216AEAC50}"/>
              </a:ext>
            </a:extLst>
          </p:cNvPr>
          <p:cNvSpPr>
            <a:spLocks xmlns:a="http://schemas.openxmlformats.org/drawingml/2006/main" noGrp="1"/>
          </p:cNvSpPr>
          <p:nvPr/>
        </p:nvSpPr>
        <p:spPr>
          <a:xfrm xmlns:a="http://schemas.openxmlformats.org/drawingml/2006/main">
            <a:off x="628650" y="40862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D6E9E1"/>
                </a:solidFill>
                <a:latin typeface="Aptos"/>
                <a:ea typeface="Aptos"/>
                <a:cs typeface="Aptos"/>
              </a:defRPr>
            </a:pPr>
            <a:r>
              <a:rPr sz="1875" b="0">
                <a:solidFill>
                  <a:srgbClr val="D6E9E1"/>
                </a:solidFill>
                <a:latin typeface="Aptos"/>
                <a:ea typeface="Aptos"/>
                <a:cs typeface="Aptos"/>
              </a:rPr>
              <a:t>Hỏi sâu. Hiểu đúng. Sẵn sàng cho bước tiếp theo.</a:t>
            </a:r>
          </a:p>
        </p:txBody>
      </p:sp>
      <p:sp>
        <p:nvSpPr>
          <p:cNvPr id="7" name="cover-team">
            <a:extLst xmlns:a="http://schemas.openxmlformats.org/drawingml/2006/main">
              <a:ext uri="{FF2B5EF4-FFF2-40B4-BE49-F238E27FC236}">
                <a16:creationId xmlns:a16="http://schemas.microsoft.com/office/drawing/2014/main" id="{91D2B5AA-E466-4377-8313-6BE2B375B02A}"/>
              </a:ext>
            </a:extLst>
          </p:cNvPr>
          <p:cNvSpPr>
            <a:spLocks xmlns:a="http://schemas.openxmlformats.org/drawingml/2006/main" noGrp="1"/>
          </p:cNvSpPr>
          <p:nvPr/>
        </p:nvSpPr>
        <p:spPr>
          <a:xfrm xmlns:a="http://schemas.openxmlformats.org/drawingml/2006/main">
            <a:off x="628650" y="5905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FD7CD"/>
                </a:solidFill>
                <a:latin typeface="Aptos"/>
                <a:ea typeface="Aptos"/>
                <a:cs typeface="Aptos"/>
              </a:defRPr>
            </a:pPr>
            <a:r>
              <a:rPr sz="1050" b="1">
                <a:solidFill>
                  <a:srgbClr val="BFD7CD"/>
                </a:solidFill>
                <a:latin typeface="Aptos"/>
                <a:ea typeface="Aptos"/>
                <a:cs typeface="Aptos"/>
              </a:rPr>
              <a:t>NHÓM NHỮNG CON VỊT BẦU  ·  K4 HACKATHON</a:t>
            </a:r>
          </a:p>
        </p:txBody>
      </p:sp>
      <p:sp>
        <p:nvSpPr>
          <p:cNvPr id="8" name="cover-tag">
            <a:extLst xmlns:a="http://schemas.openxmlformats.org/drawingml/2006/main">
              <a:ext uri="{FF2B5EF4-FFF2-40B4-BE49-F238E27FC236}">
                <a16:creationId xmlns:a16="http://schemas.microsoft.com/office/drawing/2014/main" id="{B255EEF4-7998-430F-A86C-5F9F624FA67D}"/>
              </a:ext>
            </a:extLst>
          </p:cNvPr>
          <p:cNvSpPr>
            <a:spLocks xmlns:a="http://schemas.openxmlformats.org/drawingml/2006/main" noGrp="1"/>
          </p:cNvSpPr>
          <p:nvPr/>
        </p:nvSpPr>
        <p:spPr>
          <a:xfrm xmlns:a="http://schemas.openxmlformats.org/drawingml/2006/main">
            <a:off x="6686550" y="5962650"/>
            <a:ext cx="481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r">
              <a:defRPr sz="1350" b="1">
                <a:solidFill>
                  <a:srgbClr val="FFFFFF"/>
                </a:solidFill>
                <a:latin typeface="Aptos"/>
                <a:ea typeface="Aptos"/>
                <a:cs typeface="Aptos"/>
              </a:defRPr>
            </a:pPr>
            <a:r>
              <a:rPr sz="1350" b="1">
                <a:solidFill>
                  <a:srgbClr val="FFFFFF"/>
                </a:solidFill>
                <a:latin typeface="Aptos"/>
                <a:ea typeface="Aptos"/>
                <a:cs typeface="Aptos"/>
              </a:rPr>
              <a:t>Grounded answers  /  Official tools  /  Safe handoff</a:t>
            </a:r>
          </a:p>
        </p:txBody>
      </p:sp>
    </p:spTree>
    <p:extLst>
      <p:ext uri="{BB962C8B-B14F-4D97-AF65-F5344CB8AC3E}">
        <p14:creationId xmlns:p14="http://schemas.microsoft.com/office/powerpoint/2010/main" val="17927092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2">
            <a:extLst xmlns:a="http://schemas.openxmlformats.org/drawingml/2006/main">
              <a:ext uri="{FF2B5EF4-FFF2-40B4-BE49-F238E27FC236}">
                <a16:creationId xmlns:a16="http://schemas.microsoft.com/office/drawing/2014/main" id="{BBC324C0-84ED-4182-8C4B-B8C965888226}"/>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0A7352"/>
                </a:solidFill>
                <a:latin typeface="Aptos"/>
                <a:ea typeface="Aptos"/>
                <a:cs typeface="Aptos"/>
              </a:defRPr>
            </a:pPr>
            <a:r>
              <a:rPr sz="1050" b="1">
                <a:solidFill>
                  <a:srgbClr val="0A7352"/>
                </a:solidFill>
                <a:latin typeface="Aptos"/>
                <a:ea typeface="Aptos"/>
                <a:cs typeface="Aptos"/>
              </a:rPr>
              <a:t>VẤN ĐỀ ĐÃ ĐƯỢC ĐO</a:t>
            </a:r>
          </a:p>
        </p:txBody>
      </p:sp>
      <p:sp>
        <p:nvSpPr>
          <p:cNvPr id="2" name="title-2">
            <a:extLst xmlns:a="http://schemas.openxmlformats.org/drawingml/2006/main">
              <a:ext uri="{FF2B5EF4-FFF2-40B4-BE49-F238E27FC236}">
                <a16:creationId xmlns:a16="http://schemas.microsoft.com/office/drawing/2014/main" id="{5451617D-F72B-4C02-AED4-680788CE5D18}"/>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2A21"/>
                </a:solidFill>
                <a:latin typeface="Aptos Display"/>
                <a:ea typeface="Aptos Display"/>
                <a:cs typeface="Aptos Display"/>
              </a:defRPr>
            </a:pPr>
            <a:r>
              <a:rPr sz="3150" b="1">
                <a:solidFill>
                  <a:srgbClr val="102A21"/>
                </a:solidFill>
                <a:latin typeface="Aptos Display"/>
                <a:ea typeface="Aptos Display"/>
                <a:cs typeface="Aptos Display"/>
              </a:rPr>
              <a:t>Thông tin rải rác đang tạo ra chi phí thật</a:t>
            </a:r>
          </a:p>
        </p:txBody>
      </p:sp>
      <p:sp>
        <p:nvSpPr>
          <p:cNvPr id="3" name="footer-2">
            <a:extLst xmlns:a="http://schemas.openxmlformats.org/drawingml/2006/main">
              <a:ext uri="{FF2B5EF4-FFF2-40B4-BE49-F238E27FC236}">
                <a16:creationId xmlns:a16="http://schemas.microsoft.com/office/drawing/2014/main" id="{DBC38A22-0DC9-4592-A7D1-33E76B800EB7}"/>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64756E"/>
                </a:solidFill>
                <a:latin typeface="Aptos"/>
                <a:ea typeface="Aptos"/>
                <a:cs typeface="Aptos"/>
              </a:defRPr>
            </a:pPr>
            <a:r>
              <a:rPr sz="825" b="1">
                <a:solidFill>
                  <a:srgbClr val="64756E"/>
                </a:solidFill>
                <a:latin typeface="Aptos"/>
                <a:ea typeface="Aptos"/>
                <a:cs typeface="Aptos"/>
              </a:rPr>
              <a:t>AI THỰC CHIẾN  ·  NHỮNG CON VỊT BẦU</a:t>
            </a:r>
          </a:p>
        </p:txBody>
      </p:sp>
      <p:sp>
        <p:nvSpPr>
          <p:cNvPr id="4" name="page-2">
            <a:extLst xmlns:a="http://schemas.openxmlformats.org/drawingml/2006/main">
              <a:ext uri="{FF2B5EF4-FFF2-40B4-BE49-F238E27FC236}">
                <a16:creationId xmlns:a16="http://schemas.microsoft.com/office/drawing/2014/main" id="{522E862B-5CFF-441B-9AB1-CA5F2CEFDC95}"/>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64756E"/>
                </a:solidFill>
                <a:latin typeface="Aptos"/>
                <a:ea typeface="Aptos"/>
                <a:cs typeface="Aptos"/>
              </a:defRPr>
            </a:pPr>
            <a:r>
              <a:rPr sz="825" b="1">
                <a:solidFill>
                  <a:srgbClr val="64756E"/>
                </a:solidFill>
                <a:latin typeface="Aptos"/>
                <a:ea typeface="Aptos"/>
                <a:cs typeface="Aptos"/>
              </a:rPr>
              <a:t>02</a:t>
            </a:r>
          </a:p>
        </p:txBody>
      </p:sp>
      <p:sp>
        <p:nvSpPr>
          <p:cNvPr id="5" name="evidence-intro">
            <a:extLst xmlns:a="http://schemas.openxmlformats.org/drawingml/2006/main">
              <a:ext uri="{FF2B5EF4-FFF2-40B4-BE49-F238E27FC236}">
                <a16:creationId xmlns:a16="http://schemas.microsoft.com/office/drawing/2014/main" id="{D22E6824-AEF4-4C62-B03D-B0452D6DBC73}"/>
              </a:ext>
            </a:extLst>
          </p:cNvPr>
          <p:cNvSpPr>
            <a:spLocks xmlns:a="http://schemas.openxmlformats.org/drawingml/2006/main" noGrp="1"/>
          </p:cNvSpPr>
          <p:nvPr/>
        </p:nvSpPr>
        <p:spPr>
          <a:xfrm xmlns:a="http://schemas.openxmlformats.org/drawingml/2006/main">
            <a:off x="609600" y="1476375"/>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defRPr sz="1725" b="0">
                <a:solidFill>
                  <a:srgbClr val="64756E"/>
                </a:solidFill>
                <a:latin typeface="Aptos"/>
                <a:ea typeface="Aptos"/>
                <a:cs typeface="Aptos"/>
              </a:defRPr>
            </a:pPr>
            <a:r>
              <a:rPr sz="1725" b="0">
                <a:solidFill>
                  <a:srgbClr val="64756E"/>
                </a:solidFill>
                <a:latin typeface="Aptos"/>
                <a:ea typeface="Aptos"/>
                <a:cs typeface="Aptos"/>
              </a:rPr>
              <a:t>Khảo sát 44 học viên cho thấy đây không phải một vấn đề cá biệt.</a:t>
            </a:r>
          </a:p>
        </p:txBody>
      </p:sp>
      <p:sp>
        <p:nvSpPr>
          <p:cNvPr id="6" name="metric-num-0">
            <a:extLst xmlns:a="http://schemas.openxmlformats.org/drawingml/2006/main">
              <a:ext uri="{FF2B5EF4-FFF2-40B4-BE49-F238E27FC236}">
                <a16:creationId xmlns:a16="http://schemas.microsoft.com/office/drawing/2014/main" id="{DDD810FA-63CF-4918-BB1A-41E2003DF65D}"/>
              </a:ext>
            </a:extLst>
          </p:cNvPr>
          <p:cNvSpPr>
            <a:spLocks xmlns:a="http://schemas.openxmlformats.org/drawingml/2006/main" noGrp="1"/>
          </p:cNvSpPr>
          <p:nvPr/>
        </p:nvSpPr>
        <p:spPr>
          <a:xfrm xmlns:a="http://schemas.openxmlformats.org/drawingml/2006/main">
            <a:off x="628650" y="2247900"/>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l">
              <a:defRPr sz="4050" b="1">
                <a:solidFill>
                  <a:srgbClr val="0A7352"/>
                </a:solidFill>
                <a:latin typeface="Aptos Display"/>
                <a:ea typeface="Aptos Display"/>
                <a:cs typeface="Aptos Display"/>
              </a:defRPr>
            </a:pPr>
            <a:r>
              <a:rPr sz="4050" b="1">
                <a:solidFill>
                  <a:srgbClr val="0A7352"/>
                </a:solidFill>
                <a:latin typeface="Aptos Display"/>
                <a:ea typeface="Aptos Display"/>
                <a:cs typeface="Aptos Display"/>
              </a:rPr>
              <a:t>40/44</a:t>
            </a:r>
          </a:p>
        </p:txBody>
      </p:sp>
      <p:sp>
        <p:nvSpPr>
          <p:cNvPr id="7" name="metric-label-0">
            <a:extLst xmlns:a="http://schemas.openxmlformats.org/drawingml/2006/main">
              <a:ext uri="{FF2B5EF4-FFF2-40B4-BE49-F238E27FC236}">
                <a16:creationId xmlns:a16="http://schemas.microsoft.com/office/drawing/2014/main" id="{5C1B779F-27C2-4317-A58F-A3393921B530}"/>
              </a:ext>
            </a:extLst>
          </p:cNvPr>
          <p:cNvSpPr>
            <a:spLocks xmlns:a="http://schemas.openxmlformats.org/drawingml/2006/main" noGrp="1"/>
          </p:cNvSpPr>
          <p:nvPr/>
        </p:nvSpPr>
        <p:spPr>
          <a:xfrm xmlns:a="http://schemas.openxmlformats.org/drawingml/2006/main">
            <a:off x="628650" y="2971800"/>
            <a:ext cx="2047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4756E"/>
                </a:solidFill>
                <a:latin typeface="Aptos"/>
                <a:ea typeface="Aptos"/>
                <a:cs typeface="Aptos"/>
              </a:defRPr>
            </a:pPr>
            <a:r>
              <a:rPr sz="1425" b="0">
                <a:solidFill>
                  <a:srgbClr val="64756E"/>
                </a:solidFill>
                <a:latin typeface="Aptos"/>
                <a:ea typeface="Aptos"/>
                <a:cs typeface="Aptos"/>
              </a:rPr>
              <a:t>gặp ít nhất một khó khăn</a:t>
            </a:r>
          </a:p>
          <a:p xmlns:a="http://schemas.openxmlformats.org/drawingml/2006/main">
            <a:pPr algn="l">
              <a:defRPr sz="1425" b="0">
                <a:solidFill>
                  <a:srgbClr val="64756E"/>
                </a:solidFill>
                <a:latin typeface="Aptos"/>
                <a:ea typeface="Aptos"/>
                <a:cs typeface="Aptos"/>
              </a:defRPr>
            </a:pPr>
            <a:r>
              <a:rPr sz="1425" b="0">
                <a:solidFill>
                  <a:srgbClr val="64756E"/>
                </a:solidFill>
                <a:latin typeface="Aptos"/>
                <a:ea typeface="Aptos"/>
                <a:cs typeface="Aptos"/>
              </a:rPr>
              <a:t>trước nhập học</a:t>
            </a:r>
          </a:p>
        </p:txBody>
      </p:sp>
      <p:sp>
        <p:nvSpPr>
          <p:cNvPr id="8" name="metric-num-1">
            <a:extLst xmlns:a="http://schemas.openxmlformats.org/drawingml/2006/main">
              <a:ext uri="{FF2B5EF4-FFF2-40B4-BE49-F238E27FC236}">
                <a16:creationId xmlns:a16="http://schemas.microsoft.com/office/drawing/2014/main" id="{565A7095-E43A-4891-8CF9-E0E5C87691EB}"/>
              </a:ext>
            </a:extLst>
          </p:cNvPr>
          <p:cNvSpPr>
            <a:spLocks xmlns:a="http://schemas.openxmlformats.org/drawingml/2006/main" noGrp="1"/>
          </p:cNvSpPr>
          <p:nvPr/>
        </p:nvSpPr>
        <p:spPr>
          <a:xfrm xmlns:a="http://schemas.openxmlformats.org/drawingml/2006/main">
            <a:off x="3009900" y="2247900"/>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l">
              <a:defRPr sz="4050" b="1">
                <a:solidFill>
                  <a:srgbClr val="102A21"/>
                </a:solidFill>
                <a:latin typeface="Aptos Display"/>
                <a:ea typeface="Aptos Display"/>
                <a:cs typeface="Aptos Display"/>
              </a:defRPr>
            </a:pPr>
            <a:r>
              <a:rPr sz="4050" b="1">
                <a:solidFill>
                  <a:srgbClr val="102A21"/>
                </a:solidFill>
                <a:latin typeface="Aptos Display"/>
                <a:ea typeface="Aptos Display"/>
                <a:cs typeface="Aptos Display"/>
              </a:rPr>
              <a:t>29/44</a:t>
            </a:r>
          </a:p>
        </p:txBody>
      </p:sp>
      <p:sp>
        <p:nvSpPr>
          <p:cNvPr id="9" name="metric-label-1">
            <a:extLst xmlns:a="http://schemas.openxmlformats.org/drawingml/2006/main">
              <a:ext uri="{FF2B5EF4-FFF2-40B4-BE49-F238E27FC236}">
                <a16:creationId xmlns:a16="http://schemas.microsoft.com/office/drawing/2014/main" id="{6BC8CEA8-1C54-48D2-82EF-3BBD56166AC1}"/>
              </a:ext>
            </a:extLst>
          </p:cNvPr>
          <p:cNvSpPr>
            <a:spLocks xmlns:a="http://schemas.openxmlformats.org/drawingml/2006/main" noGrp="1"/>
          </p:cNvSpPr>
          <p:nvPr/>
        </p:nvSpPr>
        <p:spPr>
          <a:xfrm xmlns:a="http://schemas.openxmlformats.org/drawingml/2006/main">
            <a:off x="3009900" y="2971800"/>
            <a:ext cx="2047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4756E"/>
                </a:solidFill>
                <a:latin typeface="Aptos"/>
                <a:ea typeface="Aptos"/>
                <a:cs typeface="Aptos"/>
              </a:defRPr>
            </a:pPr>
            <a:r>
              <a:rPr sz="1425" b="0">
                <a:solidFill>
                  <a:srgbClr val="64756E"/>
                </a:solidFill>
                <a:latin typeface="Aptos"/>
                <a:ea typeface="Aptos"/>
                <a:cs typeface="Aptos"/>
              </a:rPr>
              <a:t>mất từ 1 giờ trở lên</a:t>
            </a:r>
          </a:p>
          <a:p xmlns:a="http://schemas.openxmlformats.org/drawingml/2006/main">
            <a:pPr algn="l">
              <a:defRPr sz="1425" b="0">
                <a:solidFill>
                  <a:srgbClr val="64756E"/>
                </a:solidFill>
                <a:latin typeface="Aptos"/>
                <a:ea typeface="Aptos"/>
                <a:cs typeface="Aptos"/>
              </a:defRPr>
            </a:pPr>
            <a:r>
              <a:rPr sz="1425" b="0">
                <a:solidFill>
                  <a:srgbClr val="64756E"/>
                </a:solidFill>
                <a:latin typeface="Aptos"/>
                <a:ea typeface="Aptos"/>
                <a:cs typeface="Aptos"/>
              </a:rPr>
              <a:t>cho một vấn đề</a:t>
            </a:r>
          </a:p>
        </p:txBody>
      </p:sp>
      <p:sp>
        <p:nvSpPr>
          <p:cNvPr id="10" name="metric-num-2">
            <a:extLst xmlns:a="http://schemas.openxmlformats.org/drawingml/2006/main">
              <a:ext uri="{FF2B5EF4-FFF2-40B4-BE49-F238E27FC236}">
                <a16:creationId xmlns:a16="http://schemas.microsoft.com/office/drawing/2014/main" id="{269D63A8-E236-454C-B00E-F99D5DDE06D6}"/>
              </a:ext>
            </a:extLst>
          </p:cNvPr>
          <p:cNvSpPr>
            <a:spLocks xmlns:a="http://schemas.openxmlformats.org/drawingml/2006/main" noGrp="1"/>
          </p:cNvSpPr>
          <p:nvPr/>
        </p:nvSpPr>
        <p:spPr>
          <a:xfrm xmlns:a="http://schemas.openxmlformats.org/drawingml/2006/main">
            <a:off x="5391150" y="2247900"/>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l">
              <a:defRPr sz="4050" b="1">
                <a:solidFill>
                  <a:srgbClr val="102A21"/>
                </a:solidFill>
                <a:latin typeface="Aptos Display"/>
                <a:ea typeface="Aptos Display"/>
                <a:cs typeface="Aptos Display"/>
              </a:defRPr>
            </a:pPr>
            <a:r>
              <a:rPr sz="4050" b="1">
                <a:solidFill>
                  <a:srgbClr val="102A21"/>
                </a:solidFill>
                <a:latin typeface="Aptos Display"/>
                <a:ea typeface="Aptos Display"/>
                <a:cs typeface="Aptos Display"/>
              </a:rPr>
              <a:t>15/44</a:t>
            </a:r>
          </a:p>
        </p:txBody>
      </p:sp>
      <p:sp>
        <p:nvSpPr>
          <p:cNvPr id="11" name="metric-label-2">
            <a:extLst xmlns:a="http://schemas.openxmlformats.org/drawingml/2006/main">
              <a:ext uri="{FF2B5EF4-FFF2-40B4-BE49-F238E27FC236}">
                <a16:creationId xmlns:a16="http://schemas.microsoft.com/office/drawing/2014/main" id="{D39C555F-3FDB-4F99-8D85-51031AD7F46B}"/>
              </a:ext>
            </a:extLst>
          </p:cNvPr>
          <p:cNvSpPr>
            <a:spLocks xmlns:a="http://schemas.openxmlformats.org/drawingml/2006/main" noGrp="1"/>
          </p:cNvSpPr>
          <p:nvPr/>
        </p:nvSpPr>
        <p:spPr>
          <a:xfrm xmlns:a="http://schemas.openxmlformats.org/drawingml/2006/main">
            <a:off x="5391150" y="2971800"/>
            <a:ext cx="2047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4756E"/>
                </a:solidFill>
                <a:latin typeface="Aptos"/>
                <a:ea typeface="Aptos"/>
                <a:cs typeface="Aptos"/>
              </a:defRPr>
            </a:pPr>
            <a:r>
              <a:rPr sz="1425" b="0">
                <a:solidFill>
                  <a:srgbClr val="64756E"/>
                </a:solidFill>
                <a:latin typeface="Aptos"/>
                <a:ea typeface="Aptos"/>
                <a:cs typeface="Aptos"/>
              </a:rPr>
              <a:t>gặp thông tin mâu thuẫn</a:t>
            </a:r>
          </a:p>
          <a:p xmlns:a="http://schemas.openxmlformats.org/drawingml/2006/main">
            <a:pPr algn="l">
              <a:defRPr sz="1425" b="0">
                <a:solidFill>
                  <a:srgbClr val="64756E"/>
                </a:solidFill>
                <a:latin typeface="Aptos"/>
                <a:ea typeface="Aptos"/>
                <a:cs typeface="Aptos"/>
              </a:defRPr>
            </a:pPr>
            <a:r>
              <a:rPr sz="1425" b="0">
                <a:solidFill>
                  <a:srgbClr val="64756E"/>
                </a:solidFill>
                <a:latin typeface="Aptos"/>
                <a:ea typeface="Aptos"/>
                <a:cs typeface="Aptos"/>
              </a:rPr>
              <a:t>giữa các nguồn</a:t>
            </a:r>
          </a:p>
        </p:txBody>
      </p:sp>
      <p:sp>
        <p:nvSpPr>
          <p:cNvPr id="12" name="evidence-quote-rule">
            <a:extLst xmlns:a="http://schemas.openxmlformats.org/drawingml/2006/main">
              <a:ext uri="{FF2B5EF4-FFF2-40B4-BE49-F238E27FC236}">
                <a16:creationId xmlns:a16="http://schemas.microsoft.com/office/drawing/2014/main" id="{D7CEE643-249A-410B-B69B-42A73D932165}"/>
              </a:ext>
            </a:extLst>
          </p:cNvPr>
          <p:cNvSpPr>
            <a:spLocks xmlns:a="http://schemas.openxmlformats.org/drawingml/2006/main" noGrp="1"/>
          </p:cNvSpPr>
          <p:nvPr/>
        </p:nvSpPr>
        <p:spPr>
          <a:xfrm xmlns:a="http://schemas.openxmlformats.org/drawingml/2006/main">
            <a:off x="609600" y="4143375"/>
            <a:ext cx="57150" cy="1219200"/>
          </a:xfrm>
          <a:prstGeom xmlns:a="http://schemas.openxmlformats.org/drawingml/2006/main" prst="rect">
            <a:avLst/>
          </a:prstGeom>
          <a:solidFill xmlns:a="http://schemas.openxmlformats.org/drawingml/2006/main">
            <a:srgbClr val="F0B44D"/>
          </a:solidFill>
          <a:ln xmlns:a="http://schemas.openxmlformats.org/drawingml/2006/main" w="0">
            <a:noFill/>
            <a:prstDash val="solid"/>
          </a:ln>
        </p:spPr>
      </p:sp>
      <p:sp>
        <p:nvSpPr>
          <p:cNvPr id="13" name="evidence-quote">
            <a:extLst xmlns:a="http://schemas.openxmlformats.org/drawingml/2006/main">
              <a:ext uri="{FF2B5EF4-FFF2-40B4-BE49-F238E27FC236}">
                <a16:creationId xmlns:a16="http://schemas.microsoft.com/office/drawing/2014/main" id="{EC4CB5E2-E8A5-43A3-B7DD-41E3781D5AFE}"/>
              </a:ext>
            </a:extLst>
          </p:cNvPr>
          <p:cNvSpPr>
            <a:spLocks xmlns:a="http://schemas.openxmlformats.org/drawingml/2006/main" noGrp="1"/>
          </p:cNvSpPr>
          <p:nvPr/>
        </p:nvSpPr>
        <p:spPr>
          <a:xfrm xmlns:a="http://schemas.openxmlformats.org/drawingml/2006/main">
            <a:off x="895350" y="4143375"/>
            <a:ext cx="7334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102A21"/>
                </a:solidFill>
                <a:latin typeface="Aptos Display"/>
                <a:ea typeface="Aptos Display"/>
                <a:cs typeface="Aptos Display"/>
              </a:defRPr>
            </a:pPr>
            <a:r>
              <a:rPr sz="2175" b="1">
                <a:solidFill>
                  <a:srgbClr val="102A21"/>
                </a:solidFill>
                <a:latin typeface="Aptos Display"/>
                <a:ea typeface="Aptos Display"/>
                <a:cs typeface="Aptos Display"/>
              </a:rPr>
              <a:t>“Có lúc Zalo nói deadline khác,</a:t>
            </a:r>
          </a:p>
          <a:p xmlns:a="http://schemas.openxmlformats.org/drawingml/2006/main">
            <a:pPr algn="l">
              <a:defRPr sz="2175" b="1">
                <a:solidFill>
                  <a:srgbClr val="102A21"/>
                </a:solidFill>
                <a:latin typeface="Aptos Display"/>
                <a:ea typeface="Aptos Display"/>
                <a:cs typeface="Aptos Display"/>
              </a:defRPr>
            </a:pPr>
            <a:r>
              <a:rPr sz="2175" b="1">
                <a:solidFill>
                  <a:srgbClr val="102A21"/>
                </a:solidFill>
                <a:latin typeface="Aptos Display"/>
                <a:ea typeface="Aptos Display"/>
                <a:cs typeface="Aptos Display"/>
              </a:rPr>
              <a:t>Discord ghi khác, không biết tin cái nào.”</a:t>
            </a:r>
          </a:p>
        </p:txBody>
      </p:sp>
      <p:sp>
        <p:nvSpPr>
          <p:cNvPr id="14" name="evidence-quote-source">
            <a:extLst xmlns:a="http://schemas.openxmlformats.org/drawingml/2006/main">
              <a:ext uri="{FF2B5EF4-FFF2-40B4-BE49-F238E27FC236}">
                <a16:creationId xmlns:a16="http://schemas.microsoft.com/office/drawing/2014/main" id="{26562A08-2DB1-4123-90E4-1CD64E33627B}"/>
              </a:ext>
            </a:extLst>
          </p:cNvPr>
          <p:cNvSpPr>
            <a:spLocks xmlns:a="http://schemas.openxmlformats.org/drawingml/2006/main" noGrp="1"/>
          </p:cNvSpPr>
          <p:nvPr/>
        </p:nvSpPr>
        <p:spPr>
          <a:xfrm xmlns:a="http://schemas.openxmlformats.org/drawingml/2006/main">
            <a:off x="895350" y="53149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0A7352"/>
                </a:solidFill>
                <a:latin typeface="Aptos"/>
                <a:ea typeface="Aptos"/>
                <a:cs typeface="Aptos"/>
              </a:defRPr>
            </a:pPr>
            <a:r>
              <a:rPr sz="1200" b="1">
                <a:solidFill>
                  <a:srgbClr val="0A7352"/>
                </a:solidFill>
                <a:latin typeface="Aptos"/>
                <a:ea typeface="Aptos"/>
                <a:cs typeface="Aptos"/>
              </a:rPr>
              <a:t>HV27 · Khảo sát học viên</a:t>
            </a:r>
          </a:p>
        </p:txBody>
      </p:sp>
      <p:sp>
        <p:nvSpPr>
          <p:cNvPr id="15" name="evidence-side">
            <a:extLst xmlns:a="http://schemas.openxmlformats.org/drawingml/2006/main">
              <a:ext uri="{FF2B5EF4-FFF2-40B4-BE49-F238E27FC236}">
                <a16:creationId xmlns:a16="http://schemas.microsoft.com/office/drawing/2014/main" id="{30B341B3-E48A-49EF-861D-E99808EC61D4}"/>
              </a:ext>
            </a:extLst>
          </p:cNvPr>
          <p:cNvSpPr>
            <a:spLocks xmlns:a="http://schemas.openxmlformats.org/drawingml/2006/main" noGrp="1"/>
          </p:cNvSpPr>
          <p:nvPr/>
        </p:nvSpPr>
        <p:spPr>
          <a:xfrm xmlns:a="http://schemas.openxmlformats.org/drawingml/2006/main">
            <a:off x="8858250" y="1981200"/>
            <a:ext cx="2647950" cy="3638550"/>
          </a:xfrm>
          <a:prstGeom xmlns:a="http://schemas.openxmlformats.org/drawingml/2006/main" prst="roundRect">
            <a:avLst>
              <a:gd name="adj" fmla="val 4317"/>
            </a:avLst>
          </a:prstGeom>
          <a:solidFill xmlns:a="http://schemas.openxmlformats.org/drawingml/2006/main">
            <a:srgbClr val="F0F8F4"/>
          </a:solidFill>
          <a:ln xmlns:a="http://schemas.openxmlformats.org/drawingml/2006/main" w="0">
            <a:noFill/>
            <a:prstDash val="solid"/>
          </a:ln>
        </p:spPr>
      </p:sp>
      <p:sp>
        <p:nvSpPr>
          <p:cNvPr id="16" name="evidence-side-title">
            <a:extLst xmlns:a="http://schemas.openxmlformats.org/drawingml/2006/main">
              <a:ext uri="{FF2B5EF4-FFF2-40B4-BE49-F238E27FC236}">
                <a16:creationId xmlns:a16="http://schemas.microsoft.com/office/drawing/2014/main" id="{3A2EFBB1-1896-4755-9E2C-BD4E448ABFEE}"/>
              </a:ext>
            </a:extLst>
          </p:cNvPr>
          <p:cNvSpPr>
            <a:spLocks xmlns:a="http://schemas.openxmlformats.org/drawingml/2006/main" noGrp="1"/>
          </p:cNvSpPr>
          <p:nvPr/>
        </p:nvSpPr>
        <p:spPr>
          <a:xfrm xmlns:a="http://schemas.openxmlformats.org/drawingml/2006/main">
            <a:off x="9144000" y="23050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l">
              <a:defRPr sz="2025" b="1">
                <a:solidFill>
                  <a:srgbClr val="102A21"/>
                </a:solidFill>
                <a:latin typeface="Aptos"/>
                <a:ea typeface="Aptos"/>
                <a:cs typeface="Aptos"/>
              </a:defRPr>
            </a:pPr>
            <a:r>
              <a:rPr sz="2025" b="1">
                <a:solidFill>
                  <a:srgbClr val="102A21"/>
                </a:solidFill>
                <a:latin typeface="Aptos"/>
                <a:ea typeface="Aptos"/>
                <a:cs typeface="Aptos"/>
              </a:rPr>
              <a:t>Hệ quả</a:t>
            </a:r>
          </a:p>
        </p:txBody>
      </p:sp>
      <p:sp>
        <p:nvSpPr>
          <p:cNvPr id="17" name="evidence-side-body">
            <a:extLst xmlns:a="http://schemas.openxmlformats.org/drawingml/2006/main">
              <a:ext uri="{FF2B5EF4-FFF2-40B4-BE49-F238E27FC236}">
                <a16:creationId xmlns:a16="http://schemas.microsoft.com/office/drawing/2014/main" id="{E194CCFB-FE06-4A2E-AD37-36283AA84C7A}"/>
              </a:ext>
            </a:extLst>
          </p:cNvPr>
          <p:cNvSpPr>
            <a:spLocks xmlns:a="http://schemas.openxmlformats.org/drawingml/2006/main" noGrp="1"/>
          </p:cNvSpPr>
          <p:nvPr/>
        </p:nvSpPr>
        <p:spPr>
          <a:xfrm xmlns:a="http://schemas.openxmlformats.org/drawingml/2006/main">
            <a:off x="9144000" y="2857500"/>
            <a:ext cx="20764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defRPr sz="1500" b="0">
                <a:solidFill>
                  <a:srgbClr val="102A21"/>
                </a:solidFill>
                <a:latin typeface="Aptos"/>
                <a:ea typeface="Aptos"/>
                <a:cs typeface="Aptos"/>
              </a:defRPr>
            </a:pPr>
            <a:r>
              <a:rPr sz="1500" b="0">
                <a:solidFill>
                  <a:srgbClr val="102A21"/>
                </a:solidFill>
                <a:latin typeface="Aptos"/>
                <a:ea typeface="Aptos"/>
                <a:cs typeface="Aptos"/>
              </a:rPr>
              <a:t>• Chờ đợi câu trả lời</a:t>
            </a:r>
          </a:p>
          <a:p xmlns:a="http://schemas.openxmlformats.org/drawingml/2006/main">
            <a:r>
              <a:t/>
            </a:r>
          </a:p>
          <a:p xmlns:a="http://schemas.openxmlformats.org/drawingml/2006/main">
            <a:pPr algn="l">
              <a:defRPr sz="1500" b="0">
                <a:solidFill>
                  <a:srgbClr val="102A21"/>
                </a:solidFill>
                <a:latin typeface="Aptos"/>
                <a:ea typeface="Aptos"/>
                <a:cs typeface="Aptos"/>
              </a:defRPr>
            </a:pPr>
            <a:r>
              <a:rPr sz="1500" b="0">
                <a:solidFill>
                  <a:srgbClr val="102A21"/>
                </a:solidFill>
                <a:latin typeface="Aptos"/>
                <a:ea typeface="Aptos"/>
                <a:cs typeface="Aptos"/>
              </a:rPr>
              <a:t>• Tự đối chiếu nhiều kênh</a:t>
            </a:r>
          </a:p>
          <a:p xmlns:a="http://schemas.openxmlformats.org/drawingml/2006/main">
            <a:r>
              <a:t/>
            </a:r>
          </a:p>
          <a:p xmlns:a="http://schemas.openxmlformats.org/drawingml/2006/main">
            <a:pPr algn="l">
              <a:defRPr sz="1500" b="0">
                <a:solidFill>
                  <a:srgbClr val="102A21"/>
                </a:solidFill>
                <a:latin typeface="Aptos"/>
                <a:ea typeface="Aptos"/>
                <a:cs typeface="Aptos"/>
              </a:defRPr>
            </a:pPr>
            <a:r>
              <a:rPr sz="1500" b="0">
                <a:solidFill>
                  <a:srgbClr val="102A21"/>
                </a:solidFill>
                <a:latin typeface="Aptos"/>
                <a:ea typeface="Aptos"/>
                <a:cs typeface="Aptos"/>
              </a:rPr>
              <a:t>• Nguy cơ bỏ sót deadline</a:t>
            </a:r>
          </a:p>
          <a:p xmlns:a="http://schemas.openxmlformats.org/drawingml/2006/main">
            <a:r>
              <a:t/>
            </a:r>
          </a:p>
          <a:p xmlns:a="http://schemas.openxmlformats.org/drawingml/2006/main">
            <a:pPr algn="l">
              <a:defRPr sz="1500" b="0">
                <a:solidFill>
                  <a:srgbClr val="102A21"/>
                </a:solidFill>
                <a:latin typeface="Aptos"/>
                <a:ea typeface="Aptos"/>
                <a:cs typeface="Aptos"/>
              </a:defRPr>
            </a:pPr>
            <a:r>
              <a:rPr sz="1500" b="0">
                <a:solidFill>
                  <a:srgbClr val="102A21"/>
                </a:solidFill>
                <a:latin typeface="Aptos"/>
                <a:ea typeface="Aptos"/>
                <a:cs typeface="Aptos"/>
              </a:rPr>
              <a:t>• Ban tổ chức lặp lại câu hỏi</a:t>
            </a:r>
          </a:p>
        </p:txBody>
      </p:sp>
    </p:spTree>
    <p:extLst>
      <p:ext uri="{BB962C8B-B14F-4D97-AF65-F5344CB8AC3E}">
        <p14:creationId xmlns:p14="http://schemas.microsoft.com/office/powerpoint/2010/main" val="1406028679"/>
      </p:ext>
    </p:extLst>
  </p:cSld>
</p:sld>
</file>

<file path=ppt/slides/slide3.xml><?xml version="1.0" encoding="utf-8"?>
<p:sld xmlns:p="http://schemas.openxmlformats.org/presentationml/2006/main">
  <p:cSld>
    <p:bg>
      <p:bgPr>
        <a:solidFill xmlns:a="http://schemas.openxmlformats.org/drawingml/2006/main">
          <a:srgbClr val="07543E"/>
        </a:solidFill>
      </p:bgPr>
    </p:bg>
    <p:spTree>
      <p:nvGrpSpPr>
        <p:cNvPr id="1" name=""/>
        <p:cNvGrpSpPr/>
        <p:nvPr/>
      </p:nvGrpSpPr>
      <p:grpSpPr>
        <a:xfrm xmlns:a="http://schemas.openxmlformats.org/drawingml/2006/main"/>
      </p:grpSpPr>
      <p:sp>
        <p:nvSpPr>
          <p:cNvPr id="17" name="eyebrow-3">
            <a:extLst xmlns:a="http://schemas.openxmlformats.org/drawingml/2006/main">
              <a:ext uri="{FF2B5EF4-FFF2-40B4-BE49-F238E27FC236}">
                <a16:creationId xmlns:a16="http://schemas.microsoft.com/office/drawing/2014/main" id="{E36CEC29-8E1C-4FAA-95B8-21664719B419}"/>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F0B44D"/>
                </a:solidFill>
                <a:latin typeface="Aptos"/>
                <a:ea typeface="Aptos"/>
                <a:cs typeface="Aptos"/>
              </a:defRPr>
            </a:pPr>
            <a:r>
              <a:rPr sz="1050" b="1">
                <a:solidFill>
                  <a:srgbClr val="F0B44D"/>
                </a:solidFill>
                <a:latin typeface="Aptos"/>
                <a:ea typeface="Aptos"/>
                <a:cs typeface="Aptos"/>
              </a:rPr>
              <a:t>LÁT CẮT ĐƯỢC CHỌN</a:t>
            </a:r>
          </a:p>
        </p:txBody>
      </p:sp>
      <p:sp>
        <p:nvSpPr>
          <p:cNvPr id="2" name="title-3">
            <a:extLst xmlns:a="http://schemas.openxmlformats.org/drawingml/2006/main">
              <a:ext uri="{FF2B5EF4-FFF2-40B4-BE49-F238E27FC236}">
                <a16:creationId xmlns:a16="http://schemas.microsoft.com/office/drawing/2014/main" id="{F2C25131-5B29-4E78-9E55-84C51B2CBDE5}"/>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Một câu hỏi → một câu trả lời có căn cứ</a:t>
            </a:r>
          </a:p>
        </p:txBody>
      </p:sp>
      <p:sp>
        <p:nvSpPr>
          <p:cNvPr id="3" name="footer-3">
            <a:extLst xmlns:a="http://schemas.openxmlformats.org/drawingml/2006/main">
              <a:ext uri="{FF2B5EF4-FFF2-40B4-BE49-F238E27FC236}">
                <a16:creationId xmlns:a16="http://schemas.microsoft.com/office/drawing/2014/main" id="{15806EB9-97F7-49A0-8CF8-995C60B4442B}"/>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A9C7BB"/>
                </a:solidFill>
                <a:latin typeface="Aptos"/>
                <a:ea typeface="Aptos"/>
                <a:cs typeface="Aptos"/>
              </a:defRPr>
            </a:pPr>
            <a:r>
              <a:rPr sz="825" b="1">
                <a:solidFill>
                  <a:srgbClr val="A9C7BB"/>
                </a:solidFill>
                <a:latin typeface="Aptos"/>
                <a:ea typeface="Aptos"/>
                <a:cs typeface="Aptos"/>
              </a:rPr>
              <a:t>AI THỰC CHIẾN  ·  NHỮNG CON VỊT BẦU</a:t>
            </a:r>
          </a:p>
        </p:txBody>
      </p:sp>
      <p:sp>
        <p:nvSpPr>
          <p:cNvPr id="4" name="page-3">
            <a:extLst xmlns:a="http://schemas.openxmlformats.org/drawingml/2006/main">
              <a:ext uri="{FF2B5EF4-FFF2-40B4-BE49-F238E27FC236}">
                <a16:creationId xmlns:a16="http://schemas.microsoft.com/office/drawing/2014/main" id="{664BB380-3402-4D2C-8ABD-AD3EE8289095}"/>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A9C7BB"/>
                </a:solidFill>
                <a:latin typeface="Aptos"/>
                <a:ea typeface="Aptos"/>
                <a:cs typeface="Aptos"/>
              </a:defRPr>
            </a:pPr>
            <a:r>
              <a:rPr sz="825" b="1">
                <a:solidFill>
                  <a:srgbClr val="A9C7BB"/>
                </a:solidFill>
                <a:latin typeface="Aptos"/>
                <a:ea typeface="Aptos"/>
                <a:cs typeface="Aptos"/>
              </a:rPr>
              <a:t>03</a:t>
            </a:r>
          </a:p>
        </p:txBody>
      </p:sp>
      <p:sp>
        <p:nvSpPr>
          <p:cNvPr id="5" name="solution-statement">
            <a:extLst xmlns:a="http://schemas.openxmlformats.org/drawingml/2006/main">
              <a:ext uri="{FF2B5EF4-FFF2-40B4-BE49-F238E27FC236}">
                <a16:creationId xmlns:a16="http://schemas.microsoft.com/office/drawing/2014/main" id="{9080A69B-B4C8-488B-B3C5-2AB4CAB7B0C9}"/>
              </a:ext>
            </a:extLst>
          </p:cNvPr>
          <p:cNvSpPr>
            <a:spLocks xmlns:a="http://schemas.openxmlformats.org/drawingml/2006/main" noGrp="1"/>
          </p:cNvSpPr>
          <p:nvPr/>
        </p:nvSpPr>
        <p:spPr>
          <a:xfrm xmlns:a="http://schemas.openxmlformats.org/drawingml/2006/main">
            <a:off x="609600" y="1600200"/>
            <a:ext cx="10810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DCEDE6"/>
                </a:solidFill>
                <a:latin typeface="Aptos"/>
                <a:ea typeface="Aptos"/>
                <a:cs typeface="Aptos"/>
              </a:defRPr>
            </a:pPr>
            <a:r>
              <a:rPr sz="2025" b="0">
                <a:solidFill>
                  <a:srgbClr val="DCEDE6"/>
                </a:solidFill>
                <a:latin typeface="Aptos"/>
                <a:ea typeface="Aptos"/>
                <a:cs typeface="Aptos"/>
              </a:rPr>
              <a:t>Trợ lý chỉ kết luận khi tìm thấy nguồn phù hợp. Nếu câu hỏi mơ hồ, nguồn thiếu hoặc mâu thuẫn, hệ thống dừng và đưa bước tiếp theo rõ ràng.</a:t>
            </a:r>
          </a:p>
        </p:txBody>
      </p:sp>
      <p:sp>
        <p:nvSpPr>
          <p:cNvPr id="6" name="solution-num-0">
            <a:extLst xmlns:a="http://schemas.openxmlformats.org/drawingml/2006/main">
              <a:ext uri="{FF2B5EF4-FFF2-40B4-BE49-F238E27FC236}">
                <a16:creationId xmlns:a16="http://schemas.microsoft.com/office/drawing/2014/main" id="{B02370E9-6E49-4E02-9570-E359E400FB84}"/>
              </a:ext>
            </a:extLst>
          </p:cNvPr>
          <p:cNvSpPr>
            <a:spLocks xmlns:a="http://schemas.openxmlformats.org/drawingml/2006/main" noGrp="1"/>
          </p:cNvSpPr>
          <p:nvPr/>
        </p:nvSpPr>
        <p:spPr>
          <a:xfrm xmlns:a="http://schemas.openxmlformats.org/drawingml/2006/main">
            <a:off x="609600" y="29908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159"/>
          </a:bodyPr>
          <a:lstStyle xmlns:a="http://schemas.openxmlformats.org/drawingml/2006/main"/>
          <a:p xmlns:a="http://schemas.openxmlformats.org/drawingml/2006/main">
            <a:pPr algn="l">
              <a:defRPr sz="3150" b="1">
                <a:solidFill>
                  <a:srgbClr val="F0B44D"/>
                </a:solidFill>
                <a:latin typeface="Aptos Display"/>
                <a:ea typeface="Aptos Display"/>
                <a:cs typeface="Aptos Display"/>
              </a:defRPr>
            </a:pPr>
            <a:r>
              <a:rPr sz="3150" b="1">
                <a:solidFill>
                  <a:srgbClr val="F0B44D"/>
                </a:solidFill>
                <a:latin typeface="Aptos Display"/>
                <a:ea typeface="Aptos Display"/>
                <a:cs typeface="Aptos Display"/>
              </a:rPr>
              <a:t>01</a:t>
            </a:r>
          </a:p>
        </p:txBody>
      </p:sp>
      <p:sp>
        <p:nvSpPr>
          <p:cNvPr id="7" name="solution-head-0">
            <a:extLst xmlns:a="http://schemas.openxmlformats.org/drawingml/2006/main">
              <a:ext uri="{FF2B5EF4-FFF2-40B4-BE49-F238E27FC236}">
                <a16:creationId xmlns:a16="http://schemas.microsoft.com/office/drawing/2014/main" id="{3D1345E7-6ED5-4BA5-80EE-FF455E7C1BF8}"/>
              </a:ext>
            </a:extLst>
          </p:cNvPr>
          <p:cNvSpPr>
            <a:spLocks xmlns:a="http://schemas.openxmlformats.org/drawingml/2006/main" noGrp="1"/>
          </p:cNvSpPr>
          <p:nvPr/>
        </p:nvSpPr>
        <p:spPr>
          <a:xfrm xmlns:a="http://schemas.openxmlformats.org/drawingml/2006/main">
            <a:off x="609600" y="364807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Tra cứu</a:t>
            </a:r>
          </a:p>
        </p:txBody>
      </p:sp>
      <p:sp>
        <p:nvSpPr>
          <p:cNvPr id="8" name="solution-body-0">
            <a:extLst xmlns:a="http://schemas.openxmlformats.org/drawingml/2006/main">
              <a:ext uri="{FF2B5EF4-FFF2-40B4-BE49-F238E27FC236}">
                <a16:creationId xmlns:a16="http://schemas.microsoft.com/office/drawing/2014/main" id="{CFD19329-8BFD-4353-94FA-3FD7B7F52DD3}"/>
              </a:ext>
            </a:extLst>
          </p:cNvPr>
          <p:cNvSpPr>
            <a:spLocks xmlns:a="http://schemas.openxmlformats.org/drawingml/2006/main" noGrp="1"/>
          </p:cNvSpPr>
          <p:nvPr/>
        </p:nvSpPr>
        <p:spPr>
          <a:xfrm xmlns:a="http://schemas.openxmlformats.org/drawingml/2006/main">
            <a:off x="609600" y="426720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DCEDE6"/>
                </a:solidFill>
                <a:latin typeface="Aptos"/>
                <a:ea typeface="Aptos"/>
                <a:cs typeface="Aptos"/>
              </a:defRPr>
            </a:pPr>
            <a:r>
              <a:rPr sz="1575" b="0">
                <a:solidFill>
                  <a:srgbClr val="DCEDE6"/>
                </a:solidFill>
                <a:latin typeface="Aptos"/>
                <a:ea typeface="Aptos"/>
                <a:cs typeface="Aptos"/>
              </a:rPr>
              <a:t>Kho tài liệu chương trình</a:t>
            </a:r>
          </a:p>
          <a:p xmlns:a="http://schemas.openxmlformats.org/drawingml/2006/main">
            <a:pPr algn="l">
              <a:defRPr sz="1575" b="0">
                <a:solidFill>
                  <a:srgbClr val="DCEDE6"/>
                </a:solidFill>
                <a:latin typeface="Aptos"/>
                <a:ea typeface="Aptos"/>
                <a:cs typeface="Aptos"/>
              </a:defRPr>
            </a:pPr>
            <a:r>
              <a:rPr sz="1575" b="0">
                <a:solidFill>
                  <a:srgbClr val="DCEDE6"/>
                </a:solidFill>
                <a:latin typeface="Aptos"/>
                <a:ea typeface="Aptos"/>
                <a:cs typeface="Aptos"/>
              </a:rPr>
              <a:t>và nguồn công khai chính thức</a:t>
            </a:r>
          </a:p>
        </p:txBody>
      </p:sp>
      <p:sp>
        <p:nvSpPr>
          <p:cNvPr id="9" name="solution-rule-1">
            <a:extLst xmlns:a="http://schemas.openxmlformats.org/drawingml/2006/main">
              <a:ext uri="{FF2B5EF4-FFF2-40B4-BE49-F238E27FC236}">
                <a16:creationId xmlns:a16="http://schemas.microsoft.com/office/drawing/2014/main" id="{43BC14B9-06D0-4EBE-878C-8B09D22AC669}"/>
              </a:ext>
            </a:extLst>
          </p:cNvPr>
          <p:cNvSpPr>
            <a:spLocks xmlns:a="http://schemas.openxmlformats.org/drawingml/2006/main" noGrp="1"/>
          </p:cNvSpPr>
          <p:nvPr/>
        </p:nvSpPr>
        <p:spPr>
          <a:xfrm xmlns:a="http://schemas.openxmlformats.org/drawingml/2006/main">
            <a:off x="4076700" y="3048000"/>
            <a:ext cx="9525" cy="2286000"/>
          </a:xfrm>
          <a:prstGeom xmlns:a="http://schemas.openxmlformats.org/drawingml/2006/main" prst="rect">
            <a:avLst/>
          </a:prstGeom>
          <a:solidFill xmlns:a="http://schemas.openxmlformats.org/drawingml/2006/main">
            <a:srgbClr val="6E9B89"/>
          </a:solidFill>
          <a:ln xmlns:a="http://schemas.openxmlformats.org/drawingml/2006/main" w="0">
            <a:noFill/>
            <a:prstDash val="solid"/>
          </a:ln>
        </p:spPr>
      </p:sp>
      <p:sp>
        <p:nvSpPr>
          <p:cNvPr id="10" name="solution-num-1">
            <a:extLst xmlns:a="http://schemas.openxmlformats.org/drawingml/2006/main">
              <a:ext uri="{FF2B5EF4-FFF2-40B4-BE49-F238E27FC236}">
                <a16:creationId xmlns:a16="http://schemas.microsoft.com/office/drawing/2014/main" id="{AACEB52C-E081-4EFD-B64D-81A57FB2328C}"/>
              </a:ext>
            </a:extLst>
          </p:cNvPr>
          <p:cNvSpPr>
            <a:spLocks xmlns:a="http://schemas.openxmlformats.org/drawingml/2006/main" noGrp="1"/>
          </p:cNvSpPr>
          <p:nvPr/>
        </p:nvSpPr>
        <p:spPr>
          <a:xfrm xmlns:a="http://schemas.openxmlformats.org/drawingml/2006/main">
            <a:off x="4362450" y="29908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159"/>
          </a:bodyPr>
          <a:lstStyle xmlns:a="http://schemas.openxmlformats.org/drawingml/2006/main"/>
          <a:p xmlns:a="http://schemas.openxmlformats.org/drawingml/2006/main">
            <a:pPr algn="l">
              <a:defRPr sz="3150" b="1">
                <a:solidFill>
                  <a:srgbClr val="F0B44D"/>
                </a:solidFill>
                <a:latin typeface="Aptos Display"/>
                <a:ea typeface="Aptos Display"/>
                <a:cs typeface="Aptos Display"/>
              </a:defRPr>
            </a:pPr>
            <a:r>
              <a:rPr sz="3150" b="1">
                <a:solidFill>
                  <a:srgbClr val="F0B44D"/>
                </a:solidFill>
                <a:latin typeface="Aptos Display"/>
                <a:ea typeface="Aptos Display"/>
                <a:cs typeface="Aptos Display"/>
              </a:rPr>
              <a:t>02</a:t>
            </a:r>
          </a:p>
        </p:txBody>
      </p:sp>
      <p:sp>
        <p:nvSpPr>
          <p:cNvPr id="11" name="solution-head-1">
            <a:extLst xmlns:a="http://schemas.openxmlformats.org/drawingml/2006/main">
              <a:ext uri="{FF2B5EF4-FFF2-40B4-BE49-F238E27FC236}">
                <a16:creationId xmlns:a16="http://schemas.microsoft.com/office/drawing/2014/main" id="{42B14531-C9F7-4A56-8A7D-555258F3953C}"/>
              </a:ext>
            </a:extLst>
          </p:cNvPr>
          <p:cNvSpPr>
            <a:spLocks xmlns:a="http://schemas.openxmlformats.org/drawingml/2006/main" noGrp="1"/>
          </p:cNvSpPr>
          <p:nvPr/>
        </p:nvSpPr>
        <p:spPr>
          <a:xfrm xmlns:a="http://schemas.openxmlformats.org/drawingml/2006/main">
            <a:off x="4362450" y="364807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Đối chiếu</a:t>
            </a:r>
          </a:p>
        </p:txBody>
      </p:sp>
      <p:sp>
        <p:nvSpPr>
          <p:cNvPr id="12" name="solution-body-1">
            <a:extLst xmlns:a="http://schemas.openxmlformats.org/drawingml/2006/main">
              <a:ext uri="{FF2B5EF4-FFF2-40B4-BE49-F238E27FC236}">
                <a16:creationId xmlns:a16="http://schemas.microsoft.com/office/drawing/2014/main" id="{4F00F652-69B9-435C-8B5B-C95F6D7AB6B9}"/>
              </a:ext>
            </a:extLst>
          </p:cNvPr>
          <p:cNvSpPr>
            <a:spLocks xmlns:a="http://schemas.openxmlformats.org/drawingml/2006/main" noGrp="1"/>
          </p:cNvSpPr>
          <p:nvPr/>
        </p:nvSpPr>
        <p:spPr>
          <a:xfrm xmlns:a="http://schemas.openxmlformats.org/drawingml/2006/main">
            <a:off x="4362450" y="426720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DCEDE6"/>
                </a:solidFill>
                <a:latin typeface="Aptos"/>
                <a:ea typeface="Aptos"/>
                <a:cs typeface="Aptos"/>
              </a:defRPr>
            </a:pPr>
            <a:r>
              <a:rPr sz="1575" b="0">
                <a:solidFill>
                  <a:srgbClr val="DCEDE6"/>
                </a:solidFill>
                <a:latin typeface="Aptos"/>
                <a:ea typeface="Aptos"/>
                <a:cs typeface="Aptos"/>
              </a:rPr>
              <a:t>Ý định, thời điểm, cohort</a:t>
            </a:r>
          </a:p>
          <a:p xmlns:a="http://schemas.openxmlformats.org/drawingml/2006/main">
            <a:pPr algn="l">
              <a:defRPr sz="1575" b="0">
                <a:solidFill>
                  <a:srgbClr val="DCEDE6"/>
                </a:solidFill>
                <a:latin typeface="Aptos"/>
                <a:ea typeface="Aptos"/>
                <a:cs typeface="Aptos"/>
              </a:defRPr>
            </a:pPr>
            <a:r>
              <a:rPr sz="1575" b="0">
                <a:solidFill>
                  <a:srgbClr val="DCEDE6"/>
                </a:solidFill>
                <a:latin typeface="Aptos"/>
                <a:ea typeface="Aptos"/>
                <a:cs typeface="Aptos"/>
              </a:rPr>
              <a:t>và độ mới của nguồn</a:t>
            </a:r>
          </a:p>
        </p:txBody>
      </p:sp>
      <p:sp>
        <p:nvSpPr>
          <p:cNvPr id="13" name="solution-rule-2">
            <a:extLst xmlns:a="http://schemas.openxmlformats.org/drawingml/2006/main">
              <a:ext uri="{FF2B5EF4-FFF2-40B4-BE49-F238E27FC236}">
                <a16:creationId xmlns:a16="http://schemas.microsoft.com/office/drawing/2014/main" id="{B8DD27C9-2227-4B9F-9EA5-9197C61B4559}"/>
              </a:ext>
            </a:extLst>
          </p:cNvPr>
          <p:cNvSpPr>
            <a:spLocks xmlns:a="http://schemas.openxmlformats.org/drawingml/2006/main" noGrp="1"/>
          </p:cNvSpPr>
          <p:nvPr/>
        </p:nvSpPr>
        <p:spPr>
          <a:xfrm xmlns:a="http://schemas.openxmlformats.org/drawingml/2006/main">
            <a:off x="7829550" y="3048000"/>
            <a:ext cx="9525" cy="2286000"/>
          </a:xfrm>
          <a:prstGeom xmlns:a="http://schemas.openxmlformats.org/drawingml/2006/main" prst="rect">
            <a:avLst/>
          </a:prstGeom>
          <a:solidFill xmlns:a="http://schemas.openxmlformats.org/drawingml/2006/main">
            <a:srgbClr val="6E9B89"/>
          </a:solidFill>
          <a:ln xmlns:a="http://schemas.openxmlformats.org/drawingml/2006/main" w="0">
            <a:noFill/>
            <a:prstDash val="solid"/>
          </a:ln>
        </p:spPr>
      </p:sp>
      <p:sp>
        <p:nvSpPr>
          <p:cNvPr id="14" name="solution-num-2">
            <a:extLst xmlns:a="http://schemas.openxmlformats.org/drawingml/2006/main">
              <a:ext uri="{FF2B5EF4-FFF2-40B4-BE49-F238E27FC236}">
                <a16:creationId xmlns:a16="http://schemas.microsoft.com/office/drawing/2014/main" id="{4E16AF91-505A-4FE7-8500-2E8F44FA8C5B}"/>
              </a:ext>
            </a:extLst>
          </p:cNvPr>
          <p:cNvSpPr>
            <a:spLocks xmlns:a="http://schemas.openxmlformats.org/drawingml/2006/main" noGrp="1"/>
          </p:cNvSpPr>
          <p:nvPr/>
        </p:nvSpPr>
        <p:spPr>
          <a:xfrm xmlns:a="http://schemas.openxmlformats.org/drawingml/2006/main">
            <a:off x="8115300" y="29908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159"/>
          </a:bodyPr>
          <a:lstStyle xmlns:a="http://schemas.openxmlformats.org/drawingml/2006/main"/>
          <a:p xmlns:a="http://schemas.openxmlformats.org/drawingml/2006/main">
            <a:pPr algn="l">
              <a:defRPr sz="3150" b="1">
                <a:solidFill>
                  <a:srgbClr val="F0B44D"/>
                </a:solidFill>
                <a:latin typeface="Aptos Display"/>
                <a:ea typeface="Aptos Display"/>
                <a:cs typeface="Aptos Display"/>
              </a:defRPr>
            </a:pPr>
            <a:r>
              <a:rPr sz="3150" b="1">
                <a:solidFill>
                  <a:srgbClr val="F0B44D"/>
                </a:solidFill>
                <a:latin typeface="Aptos Display"/>
                <a:ea typeface="Aptos Display"/>
                <a:cs typeface="Aptos Display"/>
              </a:rPr>
              <a:t>03</a:t>
            </a:r>
          </a:p>
        </p:txBody>
      </p:sp>
      <p:sp>
        <p:nvSpPr>
          <p:cNvPr id="15" name="solution-head-2">
            <a:extLst xmlns:a="http://schemas.openxmlformats.org/drawingml/2006/main">
              <a:ext uri="{FF2B5EF4-FFF2-40B4-BE49-F238E27FC236}">
                <a16:creationId xmlns:a16="http://schemas.microsoft.com/office/drawing/2014/main" id="{C1746891-7B80-438C-8A92-3844DE16ADCD}"/>
              </a:ext>
            </a:extLst>
          </p:cNvPr>
          <p:cNvSpPr>
            <a:spLocks xmlns:a="http://schemas.openxmlformats.org/drawingml/2006/main" noGrp="1"/>
          </p:cNvSpPr>
          <p:nvPr/>
        </p:nvSpPr>
        <p:spPr>
          <a:xfrm xmlns:a="http://schemas.openxmlformats.org/drawingml/2006/main">
            <a:off x="8115300" y="364807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Hành động an toàn</a:t>
            </a:r>
          </a:p>
        </p:txBody>
      </p:sp>
      <p:sp>
        <p:nvSpPr>
          <p:cNvPr id="16" name="solution-body-2">
            <a:extLst xmlns:a="http://schemas.openxmlformats.org/drawingml/2006/main">
              <a:ext uri="{FF2B5EF4-FFF2-40B4-BE49-F238E27FC236}">
                <a16:creationId xmlns:a16="http://schemas.microsoft.com/office/drawing/2014/main" id="{DA615A6A-DFDA-44A3-AF6F-5C270A02FAE6}"/>
              </a:ext>
            </a:extLst>
          </p:cNvPr>
          <p:cNvSpPr>
            <a:spLocks xmlns:a="http://schemas.openxmlformats.org/drawingml/2006/main" noGrp="1"/>
          </p:cNvSpPr>
          <p:nvPr/>
        </p:nvSpPr>
        <p:spPr>
          <a:xfrm xmlns:a="http://schemas.openxmlformats.org/drawingml/2006/main">
            <a:off x="8115300" y="426720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DCEDE6"/>
                </a:solidFill>
                <a:latin typeface="Aptos"/>
                <a:ea typeface="Aptos"/>
                <a:cs typeface="Aptos"/>
              </a:defRPr>
            </a:pPr>
            <a:r>
              <a:rPr sz="1575" b="0">
                <a:solidFill>
                  <a:srgbClr val="DCEDE6"/>
                </a:solidFill>
                <a:latin typeface="Aptos"/>
                <a:ea typeface="Aptos"/>
                <a:cs typeface="Aptos"/>
              </a:rPr>
              <a:t>Trả lời · hỏi lại · từ chối</a:t>
            </a:r>
          </a:p>
          <a:p xmlns:a="http://schemas.openxmlformats.org/drawingml/2006/main">
            <a:pPr algn="l">
              <a:defRPr sz="1575" b="0">
                <a:solidFill>
                  <a:srgbClr val="DCEDE6"/>
                </a:solidFill>
                <a:latin typeface="Aptos"/>
                <a:ea typeface="Aptos"/>
                <a:cs typeface="Aptos"/>
              </a:defRPr>
            </a:pPr>
            <a:r>
              <a:rPr sz="1575" b="0">
                <a:solidFill>
                  <a:srgbClr val="DCEDE6"/>
                </a:solidFill>
                <a:latin typeface="Aptos"/>
                <a:ea typeface="Aptos"/>
                <a:cs typeface="Aptos"/>
              </a:rPr>
              <a:t>hoặc chuyển người phụ trách</a:t>
            </a:r>
          </a:p>
        </p:txBody>
      </p:sp>
    </p:spTree>
    <p:extLst>
      <p:ext uri="{BB962C8B-B14F-4D97-AF65-F5344CB8AC3E}">
        <p14:creationId xmlns:p14="http://schemas.microsoft.com/office/powerpoint/2010/main" val="1557626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eyebrow-4">
            <a:extLst xmlns:a="http://schemas.openxmlformats.org/drawingml/2006/main">
              <a:ext uri="{FF2B5EF4-FFF2-40B4-BE49-F238E27FC236}">
                <a16:creationId xmlns:a16="http://schemas.microsoft.com/office/drawing/2014/main" id="{3298A1C9-B6A8-40A6-AE1A-08C4EE16FB7C}"/>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0A7352"/>
                </a:solidFill>
                <a:latin typeface="Aptos"/>
                <a:ea typeface="Aptos"/>
                <a:cs typeface="Aptos"/>
              </a:defRPr>
            </a:pPr>
            <a:r>
              <a:rPr sz="1050" b="1">
                <a:solidFill>
                  <a:srgbClr val="0A7352"/>
                </a:solidFill>
                <a:latin typeface="Aptos"/>
                <a:ea typeface="Aptos"/>
                <a:cs typeface="Aptos"/>
              </a:rPr>
              <a:t>TRẢI NGHIỆM</a:t>
            </a:r>
          </a:p>
        </p:txBody>
      </p:sp>
      <p:sp>
        <p:nvSpPr>
          <p:cNvPr id="2" name="title-4">
            <a:extLst xmlns:a="http://schemas.openxmlformats.org/drawingml/2006/main">
              <a:ext uri="{FF2B5EF4-FFF2-40B4-BE49-F238E27FC236}">
                <a16:creationId xmlns:a16="http://schemas.microsoft.com/office/drawing/2014/main" id="{F12C37F8-7F24-4D1B-8C24-3BDF9C695EDF}"/>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2A21"/>
                </a:solidFill>
                <a:latin typeface="Aptos Display"/>
                <a:ea typeface="Aptos Display"/>
                <a:cs typeface="Aptos Display"/>
              </a:defRPr>
            </a:pPr>
            <a:r>
              <a:rPr sz="3150" b="1">
                <a:solidFill>
                  <a:srgbClr val="102A21"/>
                </a:solidFill>
                <a:latin typeface="Aptos Display"/>
                <a:ea typeface="Aptos Display"/>
                <a:cs typeface="Aptos Display"/>
              </a:rPr>
              <a:t>Một câu hỏi, bốn đường đi an toàn</a:t>
            </a:r>
          </a:p>
        </p:txBody>
      </p:sp>
      <p:sp>
        <p:nvSpPr>
          <p:cNvPr id="3" name="footer-4">
            <a:extLst xmlns:a="http://schemas.openxmlformats.org/drawingml/2006/main">
              <a:ext uri="{FF2B5EF4-FFF2-40B4-BE49-F238E27FC236}">
                <a16:creationId xmlns:a16="http://schemas.microsoft.com/office/drawing/2014/main" id="{E6D71C4B-6D5B-4868-A10E-76CCC0F14FF4}"/>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64756E"/>
                </a:solidFill>
                <a:latin typeface="Aptos"/>
                <a:ea typeface="Aptos"/>
                <a:cs typeface="Aptos"/>
              </a:defRPr>
            </a:pPr>
            <a:r>
              <a:rPr sz="825" b="1">
                <a:solidFill>
                  <a:srgbClr val="64756E"/>
                </a:solidFill>
                <a:latin typeface="Aptos"/>
                <a:ea typeface="Aptos"/>
                <a:cs typeface="Aptos"/>
              </a:rPr>
              <a:t>AI THỰC CHIẾN  ·  NHỮNG CON VỊT BẦU</a:t>
            </a:r>
          </a:p>
        </p:txBody>
      </p:sp>
      <p:sp>
        <p:nvSpPr>
          <p:cNvPr id="4" name="page-4">
            <a:extLst xmlns:a="http://schemas.openxmlformats.org/drawingml/2006/main">
              <a:ext uri="{FF2B5EF4-FFF2-40B4-BE49-F238E27FC236}">
                <a16:creationId xmlns:a16="http://schemas.microsoft.com/office/drawing/2014/main" id="{26C3C102-5931-4140-8A9D-9096CB3C4A24}"/>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64756E"/>
                </a:solidFill>
                <a:latin typeface="Aptos"/>
                <a:ea typeface="Aptos"/>
                <a:cs typeface="Aptos"/>
              </a:defRPr>
            </a:pPr>
            <a:r>
              <a:rPr sz="825" b="1">
                <a:solidFill>
                  <a:srgbClr val="64756E"/>
                </a:solidFill>
                <a:latin typeface="Aptos"/>
                <a:ea typeface="Aptos"/>
                <a:cs typeface="Aptos"/>
              </a:rPr>
              <a:t>04</a:t>
            </a:r>
          </a:p>
        </p:txBody>
      </p:sp>
      <p:sp>
        <p:nvSpPr>
          <p:cNvPr id="5" name="route-line-0">
            <a:extLst xmlns:a="http://schemas.openxmlformats.org/drawingml/2006/main">
              <a:ext uri="{FF2B5EF4-FFF2-40B4-BE49-F238E27FC236}">
                <a16:creationId xmlns:a16="http://schemas.microsoft.com/office/drawing/2014/main" id="{FD35D83B-A708-460A-B007-2DBB62DB131E}"/>
              </a:ext>
            </a:extLst>
          </p:cNvPr>
          <p:cNvSpPr>
            <a:spLocks xmlns:a="http://schemas.openxmlformats.org/drawingml/2006/main" noGrp="1"/>
          </p:cNvSpPr>
          <p:nvPr/>
        </p:nvSpPr>
        <p:spPr>
          <a:xfrm xmlns:a="http://schemas.openxmlformats.org/drawingml/2006/main">
            <a:off x="2724150" y="2838450"/>
            <a:ext cx="800100" cy="28575"/>
          </a:xfrm>
          <a:prstGeom xmlns:a="http://schemas.openxmlformats.org/drawingml/2006/main" prst="rect">
            <a:avLst/>
          </a:prstGeom>
          <a:solidFill xmlns:a="http://schemas.openxmlformats.org/drawingml/2006/main">
            <a:srgbClr val="D7E3DD"/>
          </a:solidFill>
          <a:ln xmlns:a="http://schemas.openxmlformats.org/drawingml/2006/main" w="0">
            <a:noFill/>
            <a:prstDash val="solid"/>
          </a:ln>
        </p:spPr>
      </p:sp>
      <p:sp>
        <p:nvSpPr>
          <p:cNvPr id="6" name="route-line-1">
            <a:extLst xmlns:a="http://schemas.openxmlformats.org/drawingml/2006/main">
              <a:ext uri="{FF2B5EF4-FFF2-40B4-BE49-F238E27FC236}">
                <a16:creationId xmlns:a16="http://schemas.microsoft.com/office/drawing/2014/main" id="{5C95C54A-EF48-4C40-BDAD-E057A4E7E9A5}"/>
              </a:ext>
            </a:extLst>
          </p:cNvPr>
          <p:cNvSpPr>
            <a:spLocks xmlns:a="http://schemas.openxmlformats.org/drawingml/2006/main" noGrp="1"/>
          </p:cNvSpPr>
          <p:nvPr/>
        </p:nvSpPr>
        <p:spPr>
          <a:xfrm xmlns:a="http://schemas.openxmlformats.org/drawingml/2006/main">
            <a:off x="5562600" y="2838450"/>
            <a:ext cx="800100" cy="28575"/>
          </a:xfrm>
          <a:prstGeom xmlns:a="http://schemas.openxmlformats.org/drawingml/2006/main" prst="rect">
            <a:avLst/>
          </a:prstGeom>
          <a:solidFill xmlns:a="http://schemas.openxmlformats.org/drawingml/2006/main">
            <a:srgbClr val="D7E3DD"/>
          </a:solidFill>
          <a:ln xmlns:a="http://schemas.openxmlformats.org/drawingml/2006/main" w="0">
            <a:noFill/>
            <a:prstDash val="solid"/>
          </a:ln>
        </p:spPr>
      </p:sp>
      <p:sp>
        <p:nvSpPr>
          <p:cNvPr id="7" name="route-line-2">
            <a:extLst xmlns:a="http://schemas.openxmlformats.org/drawingml/2006/main">
              <a:ext uri="{FF2B5EF4-FFF2-40B4-BE49-F238E27FC236}">
                <a16:creationId xmlns:a16="http://schemas.microsoft.com/office/drawing/2014/main" id="{E9671DD2-C958-4081-959F-910A18C321D3}"/>
              </a:ext>
            </a:extLst>
          </p:cNvPr>
          <p:cNvSpPr>
            <a:spLocks xmlns:a="http://schemas.openxmlformats.org/drawingml/2006/main" noGrp="1"/>
          </p:cNvSpPr>
          <p:nvPr/>
        </p:nvSpPr>
        <p:spPr>
          <a:xfrm xmlns:a="http://schemas.openxmlformats.org/drawingml/2006/main">
            <a:off x="8401050" y="2838450"/>
            <a:ext cx="800100" cy="28575"/>
          </a:xfrm>
          <a:prstGeom xmlns:a="http://schemas.openxmlformats.org/drawingml/2006/main" prst="rect">
            <a:avLst/>
          </a:prstGeom>
          <a:solidFill xmlns:a="http://schemas.openxmlformats.org/drawingml/2006/main">
            <a:srgbClr val="D7E3DD"/>
          </a:solidFill>
          <a:ln xmlns:a="http://schemas.openxmlformats.org/drawingml/2006/main" w="0">
            <a:noFill/>
            <a:prstDash val="solid"/>
          </a:ln>
        </p:spPr>
      </p:sp>
      <p:sp>
        <p:nvSpPr>
          <p:cNvPr id="8" name="route-node-0">
            <a:extLst xmlns:a="http://schemas.openxmlformats.org/drawingml/2006/main">
              <a:ext uri="{FF2B5EF4-FFF2-40B4-BE49-F238E27FC236}">
                <a16:creationId xmlns:a16="http://schemas.microsoft.com/office/drawing/2014/main" id="{AE4D3AF2-5E6B-43F2-A1E7-1909CA4880C2}"/>
              </a:ext>
            </a:extLst>
          </p:cNvPr>
          <p:cNvSpPr>
            <a:spLocks xmlns:a="http://schemas.openxmlformats.org/drawingml/2006/main" noGrp="1"/>
          </p:cNvSpPr>
          <p:nvPr/>
        </p:nvSpPr>
        <p:spPr>
          <a:xfrm xmlns:a="http://schemas.openxmlformats.org/drawingml/2006/main">
            <a:off x="685800" y="2324100"/>
            <a:ext cx="2038350" cy="1066800"/>
          </a:xfrm>
          <a:prstGeom xmlns:a="http://schemas.openxmlformats.org/drawingml/2006/main" prst="roundRect">
            <a:avLst>
              <a:gd name="adj" fmla="val 10714"/>
            </a:avLst>
          </a:prstGeom>
          <a:solidFill xmlns:a="http://schemas.openxmlformats.org/drawingml/2006/main">
            <a:srgbClr val="EDF3F0"/>
          </a:solidFill>
          <a:ln xmlns:a="http://schemas.openxmlformats.org/drawingml/2006/main" w="0">
            <a:noFill/>
            <a:prstDash val="solid"/>
          </a:ln>
        </p:spPr>
      </p:sp>
      <p:sp>
        <p:nvSpPr>
          <p:cNvPr id="9" name="route-accent-0">
            <a:extLst xmlns:a="http://schemas.openxmlformats.org/drawingml/2006/main">
              <a:ext uri="{FF2B5EF4-FFF2-40B4-BE49-F238E27FC236}">
                <a16:creationId xmlns:a16="http://schemas.microsoft.com/office/drawing/2014/main" id="{82B5E4B7-0A96-4D3B-915F-4FF5095E1910}"/>
              </a:ext>
            </a:extLst>
          </p:cNvPr>
          <p:cNvSpPr>
            <a:spLocks xmlns:a="http://schemas.openxmlformats.org/drawingml/2006/main" noGrp="1"/>
          </p:cNvSpPr>
          <p:nvPr/>
        </p:nvSpPr>
        <p:spPr>
          <a:xfrm xmlns:a="http://schemas.openxmlformats.org/drawingml/2006/main">
            <a:off x="685800" y="2324100"/>
            <a:ext cx="76200" cy="1066800"/>
          </a:xfrm>
          <a:prstGeom xmlns:a="http://schemas.openxmlformats.org/drawingml/2006/main" prst="rect">
            <a:avLst/>
          </a:prstGeom>
          <a:solidFill xmlns:a="http://schemas.openxmlformats.org/drawingml/2006/main">
            <a:srgbClr val="0A7352"/>
          </a:solidFill>
          <a:ln xmlns:a="http://schemas.openxmlformats.org/drawingml/2006/main" w="0">
            <a:noFill/>
            <a:prstDash val="solid"/>
          </a:ln>
        </p:spPr>
      </p:sp>
      <p:sp>
        <p:nvSpPr>
          <p:cNvPr id="10" name="route-num-0">
            <a:extLst xmlns:a="http://schemas.openxmlformats.org/drawingml/2006/main">
              <a:ext uri="{FF2B5EF4-FFF2-40B4-BE49-F238E27FC236}">
                <a16:creationId xmlns:a16="http://schemas.microsoft.com/office/drawing/2014/main" id="{EAFFB36A-15D7-4B17-BC5A-A0B06FF07807}"/>
              </a:ext>
            </a:extLst>
          </p:cNvPr>
          <p:cNvSpPr>
            <a:spLocks xmlns:a="http://schemas.openxmlformats.org/drawingml/2006/main" noGrp="1"/>
          </p:cNvSpPr>
          <p:nvPr/>
        </p:nvSpPr>
        <p:spPr>
          <a:xfrm xmlns:a="http://schemas.openxmlformats.org/drawingml/2006/main">
            <a:off x="933450" y="24955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0A7352"/>
                </a:solidFill>
                <a:latin typeface="Aptos"/>
                <a:ea typeface="Aptos"/>
                <a:cs typeface="Aptos"/>
              </a:defRPr>
            </a:pPr>
            <a:r>
              <a:rPr sz="1725" b="1">
                <a:solidFill>
                  <a:srgbClr val="0A7352"/>
                </a:solidFill>
                <a:latin typeface="Aptos"/>
                <a:ea typeface="Aptos"/>
                <a:cs typeface="Aptos"/>
              </a:rPr>
              <a:t>01</a:t>
            </a:r>
          </a:p>
        </p:txBody>
      </p:sp>
      <p:sp>
        <p:nvSpPr>
          <p:cNvPr id="11" name="route-head-0">
            <a:extLst xmlns:a="http://schemas.openxmlformats.org/drawingml/2006/main">
              <a:ext uri="{FF2B5EF4-FFF2-40B4-BE49-F238E27FC236}">
                <a16:creationId xmlns:a16="http://schemas.microsoft.com/office/drawing/2014/main" id="{61151518-7A94-4564-A6A4-401F02018886}"/>
              </a:ext>
            </a:extLst>
          </p:cNvPr>
          <p:cNvSpPr>
            <a:spLocks xmlns:a="http://schemas.openxmlformats.org/drawingml/2006/main" noGrp="1"/>
          </p:cNvSpPr>
          <p:nvPr/>
        </p:nvSpPr>
        <p:spPr>
          <a:xfrm xmlns:a="http://schemas.openxmlformats.org/drawingml/2006/main">
            <a:off x="933450" y="2886075"/>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Có căn cứ</a:t>
            </a:r>
          </a:p>
        </p:txBody>
      </p:sp>
      <p:sp>
        <p:nvSpPr>
          <p:cNvPr id="12" name="route-body-0">
            <a:extLst xmlns:a="http://schemas.openxmlformats.org/drawingml/2006/main">
              <a:ext uri="{FF2B5EF4-FFF2-40B4-BE49-F238E27FC236}">
                <a16:creationId xmlns:a16="http://schemas.microsoft.com/office/drawing/2014/main" id="{89AEC47C-B0B2-4E04-9F33-3CE4143B659E}"/>
              </a:ext>
            </a:extLst>
          </p:cNvPr>
          <p:cNvSpPr>
            <a:spLocks xmlns:a="http://schemas.openxmlformats.org/drawingml/2006/main" noGrp="1"/>
          </p:cNvSpPr>
          <p:nvPr/>
        </p:nvSpPr>
        <p:spPr>
          <a:xfrm xmlns:a="http://schemas.openxmlformats.org/drawingml/2006/main">
            <a:off x="685800" y="376237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Trả lời ngắn</a:t>
            </a:r>
          </a:p>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 nguồn liên quan</a:t>
            </a:r>
          </a:p>
        </p:txBody>
      </p:sp>
      <p:sp>
        <p:nvSpPr>
          <p:cNvPr id="13" name="route-node-1">
            <a:extLst xmlns:a="http://schemas.openxmlformats.org/drawingml/2006/main">
              <a:ext uri="{FF2B5EF4-FFF2-40B4-BE49-F238E27FC236}">
                <a16:creationId xmlns:a16="http://schemas.microsoft.com/office/drawing/2014/main" id="{B8EC0815-E1E8-4715-BE08-12BFF889B784}"/>
              </a:ext>
            </a:extLst>
          </p:cNvPr>
          <p:cNvSpPr>
            <a:spLocks xmlns:a="http://schemas.openxmlformats.org/drawingml/2006/main" noGrp="1"/>
          </p:cNvSpPr>
          <p:nvPr/>
        </p:nvSpPr>
        <p:spPr>
          <a:xfrm xmlns:a="http://schemas.openxmlformats.org/drawingml/2006/main">
            <a:off x="3524250" y="2324100"/>
            <a:ext cx="2038350" cy="1066800"/>
          </a:xfrm>
          <a:prstGeom xmlns:a="http://schemas.openxmlformats.org/drawingml/2006/main" prst="roundRect">
            <a:avLst>
              <a:gd name="adj" fmla="val 10714"/>
            </a:avLst>
          </a:prstGeom>
          <a:solidFill xmlns:a="http://schemas.openxmlformats.org/drawingml/2006/main">
            <a:srgbClr val="EDF3F0"/>
          </a:solidFill>
          <a:ln xmlns:a="http://schemas.openxmlformats.org/drawingml/2006/main" w="0">
            <a:noFill/>
            <a:prstDash val="solid"/>
          </a:ln>
        </p:spPr>
      </p:sp>
      <p:sp>
        <p:nvSpPr>
          <p:cNvPr id="14" name="route-accent-1">
            <a:extLst xmlns:a="http://schemas.openxmlformats.org/drawingml/2006/main">
              <a:ext uri="{FF2B5EF4-FFF2-40B4-BE49-F238E27FC236}">
                <a16:creationId xmlns:a16="http://schemas.microsoft.com/office/drawing/2014/main" id="{FC563D16-29E8-4A9B-BDD7-55FF8E8FA420}"/>
              </a:ext>
            </a:extLst>
          </p:cNvPr>
          <p:cNvSpPr>
            <a:spLocks xmlns:a="http://schemas.openxmlformats.org/drawingml/2006/main" noGrp="1"/>
          </p:cNvSpPr>
          <p:nvPr/>
        </p:nvSpPr>
        <p:spPr>
          <a:xfrm xmlns:a="http://schemas.openxmlformats.org/drawingml/2006/main">
            <a:off x="3524250" y="2324100"/>
            <a:ext cx="76200" cy="1066800"/>
          </a:xfrm>
          <a:prstGeom xmlns:a="http://schemas.openxmlformats.org/drawingml/2006/main" prst="rect">
            <a:avLst/>
          </a:prstGeom>
          <a:solidFill xmlns:a="http://schemas.openxmlformats.org/drawingml/2006/main">
            <a:srgbClr val="2D6F95"/>
          </a:solidFill>
          <a:ln xmlns:a="http://schemas.openxmlformats.org/drawingml/2006/main" w="0">
            <a:noFill/>
            <a:prstDash val="solid"/>
          </a:ln>
        </p:spPr>
      </p:sp>
      <p:sp>
        <p:nvSpPr>
          <p:cNvPr id="15" name="route-num-1">
            <a:extLst xmlns:a="http://schemas.openxmlformats.org/drawingml/2006/main">
              <a:ext uri="{FF2B5EF4-FFF2-40B4-BE49-F238E27FC236}">
                <a16:creationId xmlns:a16="http://schemas.microsoft.com/office/drawing/2014/main" id="{456ED7D8-2244-4DAB-BE1C-557FF2666121}"/>
              </a:ext>
            </a:extLst>
          </p:cNvPr>
          <p:cNvSpPr>
            <a:spLocks xmlns:a="http://schemas.openxmlformats.org/drawingml/2006/main" noGrp="1"/>
          </p:cNvSpPr>
          <p:nvPr/>
        </p:nvSpPr>
        <p:spPr>
          <a:xfrm xmlns:a="http://schemas.openxmlformats.org/drawingml/2006/main">
            <a:off x="3771900" y="24955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2D6F95"/>
                </a:solidFill>
                <a:latin typeface="Aptos"/>
                <a:ea typeface="Aptos"/>
                <a:cs typeface="Aptos"/>
              </a:defRPr>
            </a:pPr>
            <a:r>
              <a:rPr sz="1725" b="1">
                <a:solidFill>
                  <a:srgbClr val="2D6F95"/>
                </a:solidFill>
                <a:latin typeface="Aptos"/>
                <a:ea typeface="Aptos"/>
                <a:cs typeface="Aptos"/>
              </a:rPr>
              <a:t>02</a:t>
            </a:r>
          </a:p>
        </p:txBody>
      </p:sp>
      <p:sp>
        <p:nvSpPr>
          <p:cNvPr id="16" name="route-head-1">
            <a:extLst xmlns:a="http://schemas.openxmlformats.org/drawingml/2006/main">
              <a:ext uri="{FF2B5EF4-FFF2-40B4-BE49-F238E27FC236}">
                <a16:creationId xmlns:a16="http://schemas.microsoft.com/office/drawing/2014/main" id="{31DC7C4F-937F-416E-974C-37D077B3990E}"/>
              </a:ext>
            </a:extLst>
          </p:cNvPr>
          <p:cNvSpPr>
            <a:spLocks xmlns:a="http://schemas.openxmlformats.org/drawingml/2006/main" noGrp="1"/>
          </p:cNvSpPr>
          <p:nvPr/>
        </p:nvSpPr>
        <p:spPr>
          <a:xfrm xmlns:a="http://schemas.openxmlformats.org/drawingml/2006/main">
            <a:off x="3771900" y="2886075"/>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Cần làm rõ</a:t>
            </a:r>
          </a:p>
        </p:txBody>
      </p:sp>
      <p:sp>
        <p:nvSpPr>
          <p:cNvPr id="17" name="route-body-1">
            <a:extLst xmlns:a="http://schemas.openxmlformats.org/drawingml/2006/main">
              <a:ext uri="{FF2B5EF4-FFF2-40B4-BE49-F238E27FC236}">
                <a16:creationId xmlns:a16="http://schemas.microsoft.com/office/drawing/2014/main" id="{F81A8F05-8871-4F44-BD6C-F9A8DBD4AE7E}"/>
              </a:ext>
            </a:extLst>
          </p:cNvPr>
          <p:cNvSpPr>
            <a:spLocks xmlns:a="http://schemas.openxmlformats.org/drawingml/2006/main" noGrp="1"/>
          </p:cNvSpPr>
          <p:nvPr/>
        </p:nvSpPr>
        <p:spPr>
          <a:xfrm xmlns:a="http://schemas.openxmlformats.org/drawingml/2006/main">
            <a:off x="3524250" y="376237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Hỏi thêm cohort,</a:t>
            </a:r>
          </a:p>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ngày hoặc bối cảnh</a:t>
            </a:r>
          </a:p>
        </p:txBody>
      </p:sp>
      <p:sp>
        <p:nvSpPr>
          <p:cNvPr id="18" name="route-node-2">
            <a:extLst xmlns:a="http://schemas.openxmlformats.org/drawingml/2006/main">
              <a:ext uri="{FF2B5EF4-FFF2-40B4-BE49-F238E27FC236}">
                <a16:creationId xmlns:a16="http://schemas.microsoft.com/office/drawing/2014/main" id="{892E5A1A-18D1-4792-99C4-A317E9BD661B}"/>
              </a:ext>
            </a:extLst>
          </p:cNvPr>
          <p:cNvSpPr>
            <a:spLocks xmlns:a="http://schemas.openxmlformats.org/drawingml/2006/main" noGrp="1"/>
          </p:cNvSpPr>
          <p:nvPr/>
        </p:nvSpPr>
        <p:spPr>
          <a:xfrm xmlns:a="http://schemas.openxmlformats.org/drawingml/2006/main">
            <a:off x="6362700" y="2324100"/>
            <a:ext cx="2038350" cy="1066800"/>
          </a:xfrm>
          <a:prstGeom xmlns:a="http://schemas.openxmlformats.org/drawingml/2006/main" prst="roundRect">
            <a:avLst>
              <a:gd name="adj" fmla="val 10714"/>
            </a:avLst>
          </a:prstGeom>
          <a:solidFill xmlns:a="http://schemas.openxmlformats.org/drawingml/2006/main">
            <a:srgbClr val="EDF3F0"/>
          </a:solidFill>
          <a:ln xmlns:a="http://schemas.openxmlformats.org/drawingml/2006/main" w="0">
            <a:noFill/>
            <a:prstDash val="solid"/>
          </a:ln>
        </p:spPr>
      </p:sp>
      <p:sp>
        <p:nvSpPr>
          <p:cNvPr id="19" name="route-accent-2">
            <a:extLst xmlns:a="http://schemas.openxmlformats.org/drawingml/2006/main">
              <a:ext uri="{FF2B5EF4-FFF2-40B4-BE49-F238E27FC236}">
                <a16:creationId xmlns:a16="http://schemas.microsoft.com/office/drawing/2014/main" id="{F1D2C586-E50C-4BB9-93C6-5E13A1DCF960}"/>
              </a:ext>
            </a:extLst>
          </p:cNvPr>
          <p:cNvSpPr>
            <a:spLocks xmlns:a="http://schemas.openxmlformats.org/drawingml/2006/main" noGrp="1"/>
          </p:cNvSpPr>
          <p:nvPr/>
        </p:nvSpPr>
        <p:spPr>
          <a:xfrm xmlns:a="http://schemas.openxmlformats.org/drawingml/2006/main">
            <a:off x="6362700" y="2324100"/>
            <a:ext cx="76200" cy="1066800"/>
          </a:xfrm>
          <a:prstGeom xmlns:a="http://schemas.openxmlformats.org/drawingml/2006/main" prst="rect">
            <a:avLst/>
          </a:prstGeom>
          <a:solidFill xmlns:a="http://schemas.openxmlformats.org/drawingml/2006/main">
            <a:srgbClr val="F0B44D"/>
          </a:solidFill>
          <a:ln xmlns:a="http://schemas.openxmlformats.org/drawingml/2006/main" w="0">
            <a:noFill/>
            <a:prstDash val="solid"/>
          </a:ln>
        </p:spPr>
      </p:sp>
      <p:sp>
        <p:nvSpPr>
          <p:cNvPr id="20" name="route-num-2">
            <a:extLst xmlns:a="http://schemas.openxmlformats.org/drawingml/2006/main">
              <a:ext uri="{FF2B5EF4-FFF2-40B4-BE49-F238E27FC236}">
                <a16:creationId xmlns:a16="http://schemas.microsoft.com/office/drawing/2014/main" id="{BB69A2D7-B99E-4CC6-A337-0B646C59EA9D}"/>
              </a:ext>
            </a:extLst>
          </p:cNvPr>
          <p:cNvSpPr>
            <a:spLocks xmlns:a="http://schemas.openxmlformats.org/drawingml/2006/main" noGrp="1"/>
          </p:cNvSpPr>
          <p:nvPr/>
        </p:nvSpPr>
        <p:spPr>
          <a:xfrm xmlns:a="http://schemas.openxmlformats.org/drawingml/2006/main">
            <a:off x="6610350" y="24955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F0B44D"/>
                </a:solidFill>
                <a:latin typeface="Aptos"/>
                <a:ea typeface="Aptos"/>
                <a:cs typeface="Aptos"/>
              </a:defRPr>
            </a:pPr>
            <a:r>
              <a:rPr sz="1725" b="1">
                <a:solidFill>
                  <a:srgbClr val="F0B44D"/>
                </a:solidFill>
                <a:latin typeface="Aptos"/>
                <a:ea typeface="Aptos"/>
                <a:cs typeface="Aptos"/>
              </a:rPr>
              <a:t>03</a:t>
            </a:r>
          </a:p>
        </p:txBody>
      </p:sp>
      <p:sp>
        <p:nvSpPr>
          <p:cNvPr id="21" name="route-head-2">
            <a:extLst xmlns:a="http://schemas.openxmlformats.org/drawingml/2006/main">
              <a:ext uri="{FF2B5EF4-FFF2-40B4-BE49-F238E27FC236}">
                <a16:creationId xmlns:a16="http://schemas.microsoft.com/office/drawing/2014/main" id="{A18939EA-3E5E-4AD0-B267-00A61E37D6D9}"/>
              </a:ext>
            </a:extLst>
          </p:cNvPr>
          <p:cNvSpPr>
            <a:spLocks xmlns:a="http://schemas.openxmlformats.org/drawingml/2006/main" noGrp="1"/>
          </p:cNvSpPr>
          <p:nvPr/>
        </p:nvSpPr>
        <p:spPr>
          <a:xfrm xmlns:a="http://schemas.openxmlformats.org/drawingml/2006/main">
            <a:off x="6610350" y="2886075"/>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Thiếu / mâu thuẫn</a:t>
            </a:r>
          </a:p>
        </p:txBody>
      </p:sp>
      <p:sp>
        <p:nvSpPr>
          <p:cNvPr id="22" name="route-body-2">
            <a:extLst xmlns:a="http://schemas.openxmlformats.org/drawingml/2006/main">
              <a:ext uri="{FF2B5EF4-FFF2-40B4-BE49-F238E27FC236}">
                <a16:creationId xmlns:a16="http://schemas.microsoft.com/office/drawing/2014/main" id="{EB82E04D-7E18-458D-BC9C-F6043FBB22F7}"/>
              </a:ext>
            </a:extLst>
          </p:cNvPr>
          <p:cNvSpPr>
            <a:spLocks xmlns:a="http://schemas.openxmlformats.org/drawingml/2006/main" noGrp="1"/>
          </p:cNvSpPr>
          <p:nvPr/>
        </p:nvSpPr>
        <p:spPr>
          <a:xfrm xmlns:a="http://schemas.openxmlformats.org/drawingml/2006/main">
            <a:off x="6362700" y="376237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Không kết luận</a:t>
            </a:r>
          </a:p>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 chỉ bước xác minh</a:t>
            </a:r>
          </a:p>
        </p:txBody>
      </p:sp>
      <p:sp>
        <p:nvSpPr>
          <p:cNvPr id="23" name="route-node-3">
            <a:extLst xmlns:a="http://schemas.openxmlformats.org/drawingml/2006/main">
              <a:ext uri="{FF2B5EF4-FFF2-40B4-BE49-F238E27FC236}">
                <a16:creationId xmlns:a16="http://schemas.microsoft.com/office/drawing/2014/main" id="{5BE46CBF-969B-48AD-B85D-9D341643017D}"/>
              </a:ext>
            </a:extLst>
          </p:cNvPr>
          <p:cNvSpPr>
            <a:spLocks xmlns:a="http://schemas.openxmlformats.org/drawingml/2006/main" noGrp="1"/>
          </p:cNvSpPr>
          <p:nvPr/>
        </p:nvSpPr>
        <p:spPr>
          <a:xfrm xmlns:a="http://schemas.openxmlformats.org/drawingml/2006/main">
            <a:off x="9201150" y="2324100"/>
            <a:ext cx="2038350" cy="1066800"/>
          </a:xfrm>
          <a:prstGeom xmlns:a="http://schemas.openxmlformats.org/drawingml/2006/main" prst="roundRect">
            <a:avLst>
              <a:gd name="adj" fmla="val 10714"/>
            </a:avLst>
          </a:prstGeom>
          <a:solidFill xmlns:a="http://schemas.openxmlformats.org/drawingml/2006/main">
            <a:srgbClr val="EDF3F0"/>
          </a:solidFill>
          <a:ln xmlns:a="http://schemas.openxmlformats.org/drawingml/2006/main" w="0">
            <a:noFill/>
            <a:prstDash val="solid"/>
          </a:ln>
        </p:spPr>
      </p:sp>
      <p:sp>
        <p:nvSpPr>
          <p:cNvPr id="24" name="route-accent-3">
            <a:extLst xmlns:a="http://schemas.openxmlformats.org/drawingml/2006/main">
              <a:ext uri="{FF2B5EF4-FFF2-40B4-BE49-F238E27FC236}">
                <a16:creationId xmlns:a16="http://schemas.microsoft.com/office/drawing/2014/main" id="{1712FE23-1EB8-46DC-AA53-547F8743A09E}"/>
              </a:ext>
            </a:extLst>
          </p:cNvPr>
          <p:cNvSpPr>
            <a:spLocks xmlns:a="http://schemas.openxmlformats.org/drawingml/2006/main" noGrp="1"/>
          </p:cNvSpPr>
          <p:nvPr/>
        </p:nvSpPr>
        <p:spPr>
          <a:xfrm xmlns:a="http://schemas.openxmlformats.org/drawingml/2006/main">
            <a:off x="9201150" y="2324100"/>
            <a:ext cx="76200" cy="1066800"/>
          </a:xfrm>
          <a:prstGeom xmlns:a="http://schemas.openxmlformats.org/drawingml/2006/main" prst="rect">
            <a:avLst/>
          </a:prstGeom>
          <a:solidFill xmlns:a="http://schemas.openxmlformats.org/drawingml/2006/main">
            <a:srgbClr val="A44234"/>
          </a:solidFill>
          <a:ln xmlns:a="http://schemas.openxmlformats.org/drawingml/2006/main" w="0">
            <a:noFill/>
            <a:prstDash val="solid"/>
          </a:ln>
        </p:spPr>
      </p:sp>
      <p:sp>
        <p:nvSpPr>
          <p:cNvPr id="25" name="route-num-3">
            <a:extLst xmlns:a="http://schemas.openxmlformats.org/drawingml/2006/main">
              <a:ext uri="{FF2B5EF4-FFF2-40B4-BE49-F238E27FC236}">
                <a16:creationId xmlns:a16="http://schemas.microsoft.com/office/drawing/2014/main" id="{25CE4687-696E-47A3-A92D-F7C179707625}"/>
              </a:ext>
            </a:extLst>
          </p:cNvPr>
          <p:cNvSpPr>
            <a:spLocks xmlns:a="http://schemas.openxmlformats.org/drawingml/2006/main" noGrp="1"/>
          </p:cNvSpPr>
          <p:nvPr/>
        </p:nvSpPr>
        <p:spPr>
          <a:xfrm xmlns:a="http://schemas.openxmlformats.org/drawingml/2006/main">
            <a:off x="9448800" y="24955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A44234"/>
                </a:solidFill>
                <a:latin typeface="Aptos"/>
                <a:ea typeface="Aptos"/>
                <a:cs typeface="Aptos"/>
              </a:defRPr>
            </a:pPr>
            <a:r>
              <a:rPr sz="1725" b="1">
                <a:solidFill>
                  <a:srgbClr val="A44234"/>
                </a:solidFill>
                <a:latin typeface="Aptos"/>
                <a:ea typeface="Aptos"/>
                <a:cs typeface="Aptos"/>
              </a:rPr>
              <a:t>04</a:t>
            </a:r>
          </a:p>
        </p:txBody>
      </p:sp>
      <p:sp>
        <p:nvSpPr>
          <p:cNvPr id="26" name="route-head-3">
            <a:extLst xmlns:a="http://schemas.openxmlformats.org/drawingml/2006/main">
              <a:ext uri="{FF2B5EF4-FFF2-40B4-BE49-F238E27FC236}">
                <a16:creationId xmlns:a16="http://schemas.microsoft.com/office/drawing/2014/main" id="{6EA79B08-6AAA-43AC-A152-335C2A6535F0}"/>
              </a:ext>
            </a:extLst>
          </p:cNvPr>
          <p:cNvSpPr>
            <a:spLocks xmlns:a="http://schemas.openxmlformats.org/drawingml/2006/main" noGrp="1"/>
          </p:cNvSpPr>
          <p:nvPr/>
        </p:nvSpPr>
        <p:spPr>
          <a:xfrm xmlns:a="http://schemas.openxmlformats.org/drawingml/2006/main">
            <a:off x="9448800" y="2886075"/>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Ngoài thẩm quyền</a:t>
            </a:r>
          </a:p>
        </p:txBody>
      </p:sp>
      <p:sp>
        <p:nvSpPr>
          <p:cNvPr id="27" name="route-body-3">
            <a:extLst xmlns:a="http://schemas.openxmlformats.org/drawingml/2006/main">
              <a:ext uri="{FF2B5EF4-FFF2-40B4-BE49-F238E27FC236}">
                <a16:creationId xmlns:a16="http://schemas.microsoft.com/office/drawing/2014/main" id="{89AC3DA6-2D9E-43EC-98B4-1DCD5CFE8877}"/>
              </a:ext>
            </a:extLst>
          </p:cNvPr>
          <p:cNvSpPr>
            <a:spLocks xmlns:a="http://schemas.openxmlformats.org/drawingml/2006/main" noGrp="1"/>
          </p:cNvSpPr>
          <p:nvPr/>
        </p:nvSpPr>
        <p:spPr>
          <a:xfrm xmlns:a="http://schemas.openxmlformats.org/drawingml/2006/main">
            <a:off x="9201150" y="376237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Từ chối thao tác</a:t>
            </a:r>
          </a:p>
          <a:p xmlns:a="http://schemas.openxmlformats.org/drawingml/2006/main">
            <a:pPr algn="ctr">
              <a:defRPr sz="1425" b="0">
                <a:solidFill>
                  <a:srgbClr val="64756E"/>
                </a:solidFill>
                <a:latin typeface="Aptos"/>
                <a:ea typeface="Aptos"/>
                <a:cs typeface="Aptos"/>
              </a:defRPr>
            </a:pPr>
            <a:r>
              <a:rPr sz="1425" b="0">
                <a:solidFill>
                  <a:srgbClr val="64756E"/>
                </a:solidFill>
                <a:latin typeface="Aptos"/>
                <a:ea typeface="Aptos"/>
                <a:cs typeface="Aptos"/>
              </a:rPr>
              <a:t>+ chuyển đúng người</a:t>
            </a:r>
          </a:p>
        </p:txBody>
      </p:sp>
      <p:sp>
        <p:nvSpPr>
          <p:cNvPr id="28" name="route-bottom">
            <a:extLst xmlns:a="http://schemas.openxmlformats.org/drawingml/2006/main">
              <a:ext uri="{FF2B5EF4-FFF2-40B4-BE49-F238E27FC236}">
                <a16:creationId xmlns:a16="http://schemas.microsoft.com/office/drawing/2014/main" id="{DA24469B-E27C-4FA4-9404-AB2A83B7E88D}"/>
              </a:ext>
            </a:extLst>
          </p:cNvPr>
          <p:cNvSpPr>
            <a:spLocks xmlns:a="http://schemas.openxmlformats.org/drawingml/2006/main" noGrp="1"/>
          </p:cNvSpPr>
          <p:nvPr/>
        </p:nvSpPr>
        <p:spPr>
          <a:xfrm xmlns:a="http://schemas.openxmlformats.org/drawingml/2006/main">
            <a:off x="1524000" y="5181600"/>
            <a:ext cx="914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37"/>
          </a:bodyPr>
          <a:lstStyle xmlns:a="http://schemas.openxmlformats.org/drawingml/2006/main"/>
          <a:p xmlns:a="http://schemas.openxmlformats.org/drawingml/2006/main">
            <a:pPr algn="ctr">
              <a:defRPr sz="2100" b="1">
                <a:solidFill>
                  <a:srgbClr val="07543E"/>
                </a:solidFill>
                <a:latin typeface="Aptos Display"/>
                <a:ea typeface="Aptos Display"/>
                <a:cs typeface="Aptos Display"/>
              </a:defRPr>
            </a:pPr>
            <a:r>
              <a:rPr sz="2100" b="1">
                <a:solidFill>
                  <a:srgbClr val="07543E"/>
                </a:solidFill>
                <a:latin typeface="Aptos Display"/>
                <a:ea typeface="Aptos Display"/>
                <a:cs typeface="Aptos Display"/>
              </a:rPr>
              <a:t>Mục tiêu không phải “luôn trả lời” — mà là luôn đưa người học tới bước đúng tiếp theo.</a:t>
            </a:r>
          </a:p>
        </p:txBody>
      </p:sp>
    </p:spTree>
    <p:extLst>
      <p:ext uri="{BB962C8B-B14F-4D97-AF65-F5344CB8AC3E}">
        <p14:creationId xmlns:p14="http://schemas.microsoft.com/office/powerpoint/2010/main" val="1288648327"/>
      </p:ext>
    </p:extLst>
  </p:cSld>
</p:sld>
</file>

<file path=ppt/slides/slide5.xml><?xml version="1.0" encoding="utf-8"?>
<p:sld xmlns:p="http://schemas.openxmlformats.org/presentationml/2006/main">
  <p:cSld>
    <p:bg>
      <p:bgPr>
        <a:solidFill xmlns:a="http://schemas.openxmlformats.org/drawingml/2006/main">
          <a:srgbClr val="F0F8F4"/>
        </a:solidFill>
      </p:bgPr>
    </p:bg>
    <p:spTree>
      <p:nvGrpSpPr>
        <p:cNvPr id="1" name=""/>
        <p:cNvGrpSpPr/>
        <p:nvPr/>
      </p:nvGrpSpPr>
      <p:grpSpPr>
        <a:xfrm xmlns:a="http://schemas.openxmlformats.org/drawingml/2006/main"/>
      </p:grpSpPr>
      <p:sp>
        <p:nvSpPr>
          <p:cNvPr id="36" name="eyebrow-5">
            <a:extLst xmlns:a="http://schemas.openxmlformats.org/drawingml/2006/main">
              <a:ext uri="{FF2B5EF4-FFF2-40B4-BE49-F238E27FC236}">
                <a16:creationId xmlns:a16="http://schemas.microsoft.com/office/drawing/2014/main" id="{728B8C61-968F-49B4-AB2E-AC43E6485DA1}"/>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0A7352"/>
                </a:solidFill>
                <a:latin typeface="Aptos"/>
                <a:ea typeface="Aptos"/>
                <a:cs typeface="Aptos"/>
              </a:defRPr>
            </a:pPr>
            <a:r>
              <a:rPr sz="1050" b="1">
                <a:solidFill>
                  <a:srgbClr val="0A7352"/>
                </a:solidFill>
                <a:latin typeface="Aptos"/>
                <a:ea typeface="Aptos"/>
                <a:cs typeface="Aptos"/>
              </a:rPr>
              <a:t>KIẾN TRÚC</a:t>
            </a:r>
          </a:p>
        </p:txBody>
      </p:sp>
      <p:sp>
        <p:nvSpPr>
          <p:cNvPr id="2" name="title-5">
            <a:extLst xmlns:a="http://schemas.openxmlformats.org/drawingml/2006/main">
              <a:ext uri="{FF2B5EF4-FFF2-40B4-BE49-F238E27FC236}">
                <a16:creationId xmlns:a16="http://schemas.microsoft.com/office/drawing/2014/main" id="{245B07F0-B3B0-4027-8638-991B9776F140}"/>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2A21"/>
                </a:solidFill>
                <a:latin typeface="Aptos Display"/>
                <a:ea typeface="Aptos Display"/>
                <a:cs typeface="Aptos Display"/>
              </a:defRPr>
            </a:pPr>
            <a:r>
              <a:rPr sz="3150" b="1">
                <a:solidFill>
                  <a:srgbClr val="102A21"/>
                </a:solidFill>
                <a:latin typeface="Aptos Display"/>
                <a:ea typeface="Aptos Display"/>
                <a:cs typeface="Aptos Display"/>
              </a:rPr>
              <a:t>RAG nội bộ + tools chính thức + lớp quyết định</a:t>
            </a:r>
          </a:p>
        </p:txBody>
      </p:sp>
      <p:sp>
        <p:nvSpPr>
          <p:cNvPr id="3" name="footer-5">
            <a:extLst xmlns:a="http://schemas.openxmlformats.org/drawingml/2006/main">
              <a:ext uri="{FF2B5EF4-FFF2-40B4-BE49-F238E27FC236}">
                <a16:creationId xmlns:a16="http://schemas.microsoft.com/office/drawing/2014/main" id="{2C0D2F9B-A175-436F-9245-52ED61AB3D24}"/>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64756E"/>
                </a:solidFill>
                <a:latin typeface="Aptos"/>
                <a:ea typeface="Aptos"/>
                <a:cs typeface="Aptos"/>
              </a:defRPr>
            </a:pPr>
            <a:r>
              <a:rPr sz="825" b="1">
                <a:solidFill>
                  <a:srgbClr val="64756E"/>
                </a:solidFill>
                <a:latin typeface="Aptos"/>
                <a:ea typeface="Aptos"/>
                <a:cs typeface="Aptos"/>
              </a:rPr>
              <a:t>AI THỰC CHIẾN  ·  NHỮNG CON VỊT BẦU</a:t>
            </a:r>
          </a:p>
        </p:txBody>
      </p:sp>
      <p:sp>
        <p:nvSpPr>
          <p:cNvPr id="4" name="page-5">
            <a:extLst xmlns:a="http://schemas.openxmlformats.org/drawingml/2006/main">
              <a:ext uri="{FF2B5EF4-FFF2-40B4-BE49-F238E27FC236}">
                <a16:creationId xmlns:a16="http://schemas.microsoft.com/office/drawing/2014/main" id="{EA1E79E9-7198-4201-A5EA-8CBBCCCB85EC}"/>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64756E"/>
                </a:solidFill>
                <a:latin typeface="Aptos"/>
                <a:ea typeface="Aptos"/>
                <a:cs typeface="Aptos"/>
              </a:defRPr>
            </a:pPr>
            <a:r>
              <a:rPr sz="825" b="1">
                <a:solidFill>
                  <a:srgbClr val="64756E"/>
                </a:solidFill>
                <a:latin typeface="Aptos"/>
                <a:ea typeface="Aptos"/>
                <a:cs typeface="Aptos"/>
              </a:rPr>
              <a:t>05</a:t>
            </a:r>
          </a:p>
        </p:txBody>
      </p:sp>
      <p:sp>
        <p:nvSpPr>
          <p:cNvPr id="5" name="arch-q-router">
            <a:extLst xmlns:a="http://schemas.openxmlformats.org/drawingml/2006/main">
              <a:ext uri="{FF2B5EF4-FFF2-40B4-BE49-F238E27FC236}">
                <a16:creationId xmlns:a16="http://schemas.microsoft.com/office/drawing/2014/main" id="{D37D5607-D9CE-4105-8629-B645A40BF5A0}"/>
              </a:ext>
            </a:extLst>
          </p:cNvPr>
          <p:cNvSpPr>
            <a:spLocks xmlns:a="http://schemas.openxmlformats.org/drawingml/2006/main" noGrp="1"/>
          </p:cNvSpPr>
          <p:nvPr/>
        </p:nvSpPr>
        <p:spPr>
          <a:xfrm xmlns:a="http://schemas.openxmlformats.org/drawingml/2006/main">
            <a:off x="2190750" y="2628900"/>
            <a:ext cx="495300"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6" name="arch-router-rag-h">
            <a:extLst xmlns:a="http://schemas.openxmlformats.org/drawingml/2006/main">
              <a:ext uri="{FF2B5EF4-FFF2-40B4-BE49-F238E27FC236}">
                <a16:creationId xmlns:a16="http://schemas.microsoft.com/office/drawing/2014/main" id="{B3561351-3282-435B-A2B8-5C4202553FFE}"/>
              </a:ext>
            </a:extLst>
          </p:cNvPr>
          <p:cNvSpPr>
            <a:spLocks xmlns:a="http://schemas.openxmlformats.org/drawingml/2006/main" noGrp="1"/>
          </p:cNvSpPr>
          <p:nvPr/>
        </p:nvSpPr>
        <p:spPr>
          <a:xfrm xmlns:a="http://schemas.openxmlformats.org/drawingml/2006/main">
            <a:off x="4495800" y="2628900"/>
            <a:ext cx="342900"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7" name="arch-router-rail">
            <a:extLst xmlns:a="http://schemas.openxmlformats.org/drawingml/2006/main">
              <a:ext uri="{FF2B5EF4-FFF2-40B4-BE49-F238E27FC236}">
                <a16:creationId xmlns:a16="http://schemas.microsoft.com/office/drawing/2014/main" id="{6CCE7B04-FF93-466E-BEFB-C9420F33E242}"/>
              </a:ext>
            </a:extLst>
          </p:cNvPr>
          <p:cNvSpPr>
            <a:spLocks xmlns:a="http://schemas.openxmlformats.org/drawingml/2006/main" noGrp="1"/>
          </p:cNvSpPr>
          <p:nvPr/>
        </p:nvSpPr>
        <p:spPr>
          <a:xfrm xmlns:a="http://schemas.openxmlformats.org/drawingml/2006/main">
            <a:off x="4810125" y="2219325"/>
            <a:ext cx="28575" cy="1143000"/>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8" name="arch-rail-rag">
            <a:extLst xmlns:a="http://schemas.openxmlformats.org/drawingml/2006/main">
              <a:ext uri="{FF2B5EF4-FFF2-40B4-BE49-F238E27FC236}">
                <a16:creationId xmlns:a16="http://schemas.microsoft.com/office/drawing/2014/main" id="{2DB216CC-6313-4CFF-8BFC-DC7CF85BC0F4}"/>
              </a:ext>
            </a:extLst>
          </p:cNvPr>
          <p:cNvSpPr>
            <a:spLocks xmlns:a="http://schemas.openxmlformats.org/drawingml/2006/main" noGrp="1"/>
          </p:cNvSpPr>
          <p:nvPr/>
        </p:nvSpPr>
        <p:spPr>
          <a:xfrm xmlns:a="http://schemas.openxmlformats.org/drawingml/2006/main">
            <a:off x="4838700" y="2219325"/>
            <a:ext cx="257175"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9" name="arch-rail-web">
            <a:extLst xmlns:a="http://schemas.openxmlformats.org/drawingml/2006/main">
              <a:ext uri="{FF2B5EF4-FFF2-40B4-BE49-F238E27FC236}">
                <a16:creationId xmlns:a16="http://schemas.microsoft.com/office/drawing/2014/main" id="{6A704BDE-A00B-4083-BBF3-8C600B1B0BB0}"/>
              </a:ext>
            </a:extLst>
          </p:cNvPr>
          <p:cNvSpPr>
            <a:spLocks xmlns:a="http://schemas.openxmlformats.org/drawingml/2006/main" noGrp="1"/>
          </p:cNvSpPr>
          <p:nvPr/>
        </p:nvSpPr>
        <p:spPr>
          <a:xfrm xmlns:a="http://schemas.openxmlformats.org/drawingml/2006/main">
            <a:off x="4838700" y="3343275"/>
            <a:ext cx="257175"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10" name="arch-rag-merge">
            <a:extLst xmlns:a="http://schemas.openxmlformats.org/drawingml/2006/main">
              <a:ext uri="{FF2B5EF4-FFF2-40B4-BE49-F238E27FC236}">
                <a16:creationId xmlns:a16="http://schemas.microsoft.com/office/drawing/2014/main" id="{86CDF87E-9832-4CFB-9187-BF781269BAFC}"/>
              </a:ext>
            </a:extLst>
          </p:cNvPr>
          <p:cNvSpPr>
            <a:spLocks xmlns:a="http://schemas.openxmlformats.org/drawingml/2006/main" noGrp="1"/>
          </p:cNvSpPr>
          <p:nvPr/>
        </p:nvSpPr>
        <p:spPr>
          <a:xfrm xmlns:a="http://schemas.openxmlformats.org/drawingml/2006/main">
            <a:off x="7096125" y="2219325"/>
            <a:ext cx="361950"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11" name="arch-web-merge">
            <a:extLst xmlns:a="http://schemas.openxmlformats.org/drawingml/2006/main">
              <a:ext uri="{FF2B5EF4-FFF2-40B4-BE49-F238E27FC236}">
                <a16:creationId xmlns:a16="http://schemas.microsoft.com/office/drawing/2014/main" id="{7B89FD7B-1BFA-474A-8651-55641C694E04}"/>
              </a:ext>
            </a:extLst>
          </p:cNvPr>
          <p:cNvSpPr>
            <a:spLocks xmlns:a="http://schemas.openxmlformats.org/drawingml/2006/main" noGrp="1"/>
          </p:cNvSpPr>
          <p:nvPr/>
        </p:nvSpPr>
        <p:spPr>
          <a:xfrm xmlns:a="http://schemas.openxmlformats.org/drawingml/2006/main">
            <a:off x="7096125" y="3343275"/>
            <a:ext cx="361950"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12" name="arch-merge-rail">
            <a:extLst xmlns:a="http://schemas.openxmlformats.org/drawingml/2006/main">
              <a:ext uri="{FF2B5EF4-FFF2-40B4-BE49-F238E27FC236}">
                <a16:creationId xmlns:a16="http://schemas.microsoft.com/office/drawing/2014/main" id="{67A476D7-FB69-44C1-899F-6646D9F2FC9E}"/>
              </a:ext>
            </a:extLst>
          </p:cNvPr>
          <p:cNvSpPr>
            <a:spLocks xmlns:a="http://schemas.openxmlformats.org/drawingml/2006/main" noGrp="1"/>
          </p:cNvSpPr>
          <p:nvPr/>
        </p:nvSpPr>
        <p:spPr>
          <a:xfrm xmlns:a="http://schemas.openxmlformats.org/drawingml/2006/main">
            <a:off x="7429500" y="2219325"/>
            <a:ext cx="28575" cy="1143000"/>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13" name="arch-rail-in">
            <a:extLst xmlns:a="http://schemas.openxmlformats.org/drawingml/2006/main">
              <a:ext uri="{FF2B5EF4-FFF2-40B4-BE49-F238E27FC236}">
                <a16:creationId xmlns:a16="http://schemas.microsoft.com/office/drawing/2014/main" id="{04A0A3E6-35E9-4489-B2EE-B8F465183119}"/>
              </a:ext>
            </a:extLst>
          </p:cNvPr>
          <p:cNvSpPr>
            <a:spLocks xmlns:a="http://schemas.openxmlformats.org/drawingml/2006/main" noGrp="1"/>
          </p:cNvSpPr>
          <p:nvPr/>
        </p:nvSpPr>
        <p:spPr>
          <a:xfrm xmlns:a="http://schemas.openxmlformats.org/drawingml/2006/main">
            <a:off x="7458075" y="2628900"/>
            <a:ext cx="257175"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14" name="arch-merge-model">
            <a:extLst xmlns:a="http://schemas.openxmlformats.org/drawingml/2006/main">
              <a:ext uri="{FF2B5EF4-FFF2-40B4-BE49-F238E27FC236}">
                <a16:creationId xmlns:a16="http://schemas.microsoft.com/office/drawing/2014/main" id="{5E98F77C-1FC7-4ED2-B83F-EA8B4FA9B8F3}"/>
              </a:ext>
            </a:extLst>
          </p:cNvPr>
          <p:cNvSpPr>
            <a:spLocks xmlns:a="http://schemas.openxmlformats.org/drawingml/2006/main" noGrp="1"/>
          </p:cNvSpPr>
          <p:nvPr/>
        </p:nvSpPr>
        <p:spPr>
          <a:xfrm xmlns:a="http://schemas.openxmlformats.org/drawingml/2006/main">
            <a:off x="9429750" y="2628900"/>
            <a:ext cx="523875" cy="28575"/>
          </a:xfrm>
          <a:prstGeom xmlns:a="http://schemas.openxmlformats.org/drawingml/2006/main" prst="rect">
            <a:avLst/>
          </a:prstGeom>
          <a:solidFill xmlns:a="http://schemas.openxmlformats.org/drawingml/2006/main">
            <a:srgbClr val="8DA79C"/>
          </a:solidFill>
          <a:ln xmlns:a="http://schemas.openxmlformats.org/drawingml/2006/main" w="0">
            <a:noFill/>
            <a:prstDash val="solid"/>
          </a:ln>
        </p:spPr>
      </p:sp>
      <p:sp>
        <p:nvSpPr>
          <p:cNvPr id="15" name="arch-node-q">
            <a:extLst xmlns:a="http://schemas.openxmlformats.org/drawingml/2006/main">
              <a:ext uri="{FF2B5EF4-FFF2-40B4-BE49-F238E27FC236}">
                <a16:creationId xmlns:a16="http://schemas.microsoft.com/office/drawing/2014/main" id="{1B2004F3-1BFD-4913-A77B-D4A737310E61}"/>
              </a:ext>
            </a:extLst>
          </p:cNvPr>
          <p:cNvSpPr>
            <a:spLocks xmlns:a="http://schemas.openxmlformats.org/drawingml/2006/main" noGrp="1"/>
          </p:cNvSpPr>
          <p:nvPr/>
        </p:nvSpPr>
        <p:spPr>
          <a:xfrm xmlns:a="http://schemas.openxmlformats.org/drawingml/2006/main">
            <a:off x="571500" y="2238375"/>
            <a:ext cx="1619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7E3DD"/>
            </a:solidFill>
            <a:prstDash val="solid"/>
          </a:ln>
        </p:spPr>
      </p:sp>
      <p:sp>
        <p:nvSpPr>
          <p:cNvPr id="16" name="arch-head-q">
            <a:extLst xmlns:a="http://schemas.openxmlformats.org/drawingml/2006/main">
              <a:ext uri="{FF2B5EF4-FFF2-40B4-BE49-F238E27FC236}">
                <a16:creationId xmlns:a16="http://schemas.microsoft.com/office/drawing/2014/main" id="{AEA022BA-55E5-4BCE-86A4-A6885FE80B4F}"/>
              </a:ext>
            </a:extLst>
          </p:cNvPr>
          <p:cNvSpPr>
            <a:spLocks xmlns:a="http://schemas.openxmlformats.org/drawingml/2006/main" noGrp="1"/>
          </p:cNvSpPr>
          <p:nvPr/>
        </p:nvSpPr>
        <p:spPr>
          <a:xfrm xmlns:a="http://schemas.openxmlformats.org/drawingml/2006/main">
            <a:off x="723900" y="2371725"/>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102A21"/>
                </a:solidFill>
                <a:latin typeface="Aptos"/>
                <a:ea typeface="Aptos"/>
                <a:cs typeface="Aptos"/>
              </a:defRPr>
            </a:pPr>
            <a:r>
              <a:rPr sz="1500" b="1">
                <a:solidFill>
                  <a:srgbClr val="102A21"/>
                </a:solidFill>
                <a:latin typeface="Aptos"/>
                <a:ea typeface="Aptos"/>
                <a:cs typeface="Aptos"/>
              </a:rPr>
              <a:t>Câu hỏi</a:t>
            </a:r>
          </a:p>
        </p:txBody>
      </p:sp>
      <p:sp>
        <p:nvSpPr>
          <p:cNvPr id="17" name="arch-body-q">
            <a:extLst xmlns:a="http://schemas.openxmlformats.org/drawingml/2006/main">
              <a:ext uri="{FF2B5EF4-FFF2-40B4-BE49-F238E27FC236}">
                <a16:creationId xmlns:a16="http://schemas.microsoft.com/office/drawing/2014/main" id="{E64452D7-3119-4C73-AD05-C097A91DBBA9}"/>
              </a:ext>
            </a:extLst>
          </p:cNvPr>
          <p:cNvSpPr>
            <a:spLocks xmlns:a="http://schemas.openxmlformats.org/drawingml/2006/main" noGrp="1"/>
          </p:cNvSpPr>
          <p:nvPr/>
        </p:nvSpPr>
        <p:spPr>
          <a:xfrm xmlns:a="http://schemas.openxmlformats.org/drawingml/2006/main">
            <a:off x="685800" y="2657475"/>
            <a:ext cx="139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33"/>
          </a:bodyPr>
          <a:lstStyle xmlns:a="http://schemas.openxmlformats.org/drawingml/2006/main"/>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Lịch · đầu vào ·</a:t>
            </a:r>
          </a:p>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lộ trình · chuẩn bị</a:t>
            </a:r>
          </a:p>
        </p:txBody>
      </p:sp>
      <p:sp>
        <p:nvSpPr>
          <p:cNvPr id="18" name="arch-node-router">
            <a:extLst xmlns:a="http://schemas.openxmlformats.org/drawingml/2006/main">
              <a:ext uri="{FF2B5EF4-FFF2-40B4-BE49-F238E27FC236}">
                <a16:creationId xmlns:a16="http://schemas.microsoft.com/office/drawing/2014/main" id="{6B3B25ED-6DB6-4915-A0A6-A5F68406C210}"/>
              </a:ext>
            </a:extLst>
          </p:cNvPr>
          <p:cNvSpPr>
            <a:spLocks xmlns:a="http://schemas.openxmlformats.org/drawingml/2006/main" noGrp="1"/>
          </p:cNvSpPr>
          <p:nvPr/>
        </p:nvSpPr>
        <p:spPr>
          <a:xfrm xmlns:a="http://schemas.openxmlformats.org/drawingml/2006/main">
            <a:off x="2686050" y="2238375"/>
            <a:ext cx="18097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7E3DD"/>
            </a:solidFill>
            <a:prstDash val="solid"/>
          </a:ln>
        </p:spPr>
      </p:sp>
      <p:sp>
        <p:nvSpPr>
          <p:cNvPr id="19" name="arch-head-router">
            <a:extLst xmlns:a="http://schemas.openxmlformats.org/drawingml/2006/main">
              <a:ext uri="{FF2B5EF4-FFF2-40B4-BE49-F238E27FC236}">
                <a16:creationId xmlns:a16="http://schemas.microsoft.com/office/drawing/2014/main" id="{122D2F28-3863-46EF-9D87-C87D9BBB6175}"/>
              </a:ext>
            </a:extLst>
          </p:cNvPr>
          <p:cNvSpPr>
            <a:spLocks xmlns:a="http://schemas.openxmlformats.org/drawingml/2006/main" noGrp="1"/>
          </p:cNvSpPr>
          <p:nvPr/>
        </p:nvSpPr>
        <p:spPr>
          <a:xfrm xmlns:a="http://schemas.openxmlformats.org/drawingml/2006/main">
            <a:off x="2838450" y="2371725"/>
            <a:ext cx="1504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102A21"/>
                </a:solidFill>
                <a:latin typeface="Aptos"/>
                <a:ea typeface="Aptos"/>
                <a:cs typeface="Aptos"/>
              </a:defRPr>
            </a:pPr>
            <a:r>
              <a:rPr sz="1500" b="1">
                <a:solidFill>
                  <a:srgbClr val="102A21"/>
                </a:solidFill>
                <a:latin typeface="Aptos"/>
                <a:ea typeface="Aptos"/>
                <a:cs typeface="Aptos"/>
              </a:rPr>
              <a:t>Intent router</a:t>
            </a:r>
          </a:p>
        </p:txBody>
      </p:sp>
      <p:sp>
        <p:nvSpPr>
          <p:cNvPr id="20" name="arch-body-router">
            <a:extLst xmlns:a="http://schemas.openxmlformats.org/drawingml/2006/main">
              <a:ext uri="{FF2B5EF4-FFF2-40B4-BE49-F238E27FC236}">
                <a16:creationId xmlns:a16="http://schemas.microsoft.com/office/drawing/2014/main" id="{FADB3B0D-3618-4E1B-839D-C188D38F1043}"/>
              </a:ext>
            </a:extLst>
          </p:cNvPr>
          <p:cNvSpPr>
            <a:spLocks xmlns:a="http://schemas.openxmlformats.org/drawingml/2006/main" noGrp="1"/>
          </p:cNvSpPr>
          <p:nvPr/>
        </p:nvSpPr>
        <p:spPr>
          <a:xfrm xmlns:a="http://schemas.openxmlformats.org/drawingml/2006/main">
            <a:off x="2800350" y="2657475"/>
            <a:ext cx="158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33"/>
          </a:bodyPr>
          <a:lstStyle xmlns:a="http://schemas.openxmlformats.org/drawingml/2006/main"/>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Phân loại nhu cầu</a:t>
            </a:r>
          </a:p>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và rủi ro</a:t>
            </a:r>
          </a:p>
        </p:txBody>
      </p:sp>
      <p:sp>
        <p:nvSpPr>
          <p:cNvPr id="21" name="arch-node-rag">
            <a:extLst xmlns:a="http://schemas.openxmlformats.org/drawingml/2006/main">
              <a:ext uri="{FF2B5EF4-FFF2-40B4-BE49-F238E27FC236}">
                <a16:creationId xmlns:a16="http://schemas.microsoft.com/office/drawing/2014/main" id="{534D582B-43D1-49D5-8813-029EE12116C1}"/>
              </a:ext>
            </a:extLst>
          </p:cNvPr>
          <p:cNvSpPr>
            <a:spLocks xmlns:a="http://schemas.openxmlformats.org/drawingml/2006/main" noGrp="1"/>
          </p:cNvSpPr>
          <p:nvPr/>
        </p:nvSpPr>
        <p:spPr>
          <a:xfrm xmlns:a="http://schemas.openxmlformats.org/drawingml/2006/main">
            <a:off x="5095875" y="1809750"/>
            <a:ext cx="2000250" cy="819150"/>
          </a:xfrm>
          <a:prstGeom xmlns:a="http://schemas.openxmlformats.org/drawingml/2006/main" prst="roundRect">
            <a:avLst>
              <a:gd name="adj" fmla="val 13953"/>
            </a:avLst>
          </a:prstGeom>
          <a:solidFill xmlns:a="http://schemas.openxmlformats.org/drawingml/2006/main">
            <a:srgbClr val="DFF4E9"/>
          </a:solidFill>
          <a:ln xmlns:a="http://schemas.openxmlformats.org/drawingml/2006/main" w="9525">
            <a:solidFill>
              <a:srgbClr val="D7E3DD"/>
            </a:solidFill>
            <a:prstDash val="solid"/>
          </a:ln>
        </p:spPr>
      </p:sp>
      <p:sp>
        <p:nvSpPr>
          <p:cNvPr id="22" name="arch-head-rag">
            <a:extLst xmlns:a="http://schemas.openxmlformats.org/drawingml/2006/main">
              <a:ext uri="{FF2B5EF4-FFF2-40B4-BE49-F238E27FC236}">
                <a16:creationId xmlns:a16="http://schemas.microsoft.com/office/drawing/2014/main" id="{40471616-EA45-4C75-824A-11C0F42B36F3}"/>
              </a:ext>
            </a:extLst>
          </p:cNvPr>
          <p:cNvSpPr>
            <a:spLocks xmlns:a="http://schemas.openxmlformats.org/drawingml/2006/main" noGrp="1"/>
          </p:cNvSpPr>
          <p:nvPr/>
        </p:nvSpPr>
        <p:spPr>
          <a:xfrm xmlns:a="http://schemas.openxmlformats.org/drawingml/2006/main">
            <a:off x="5248275" y="19431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102A21"/>
                </a:solidFill>
                <a:latin typeface="Aptos"/>
                <a:ea typeface="Aptos"/>
                <a:cs typeface="Aptos"/>
              </a:defRPr>
            </a:pPr>
            <a:r>
              <a:rPr sz="1500" b="1">
                <a:solidFill>
                  <a:srgbClr val="102A21"/>
                </a:solidFill>
                <a:latin typeface="Aptos"/>
                <a:ea typeface="Aptos"/>
                <a:cs typeface="Aptos"/>
              </a:rPr>
              <a:t>Local RAG</a:t>
            </a:r>
          </a:p>
        </p:txBody>
      </p:sp>
      <p:sp>
        <p:nvSpPr>
          <p:cNvPr id="23" name="arch-body-rag">
            <a:extLst xmlns:a="http://schemas.openxmlformats.org/drawingml/2006/main">
              <a:ext uri="{FF2B5EF4-FFF2-40B4-BE49-F238E27FC236}">
                <a16:creationId xmlns:a16="http://schemas.microsoft.com/office/drawing/2014/main" id="{114DC5DC-8A60-43F3-84E8-803E77ED3B81}"/>
              </a:ext>
            </a:extLst>
          </p:cNvPr>
          <p:cNvSpPr>
            <a:spLocks xmlns:a="http://schemas.openxmlformats.org/drawingml/2006/main" noGrp="1"/>
          </p:cNvSpPr>
          <p:nvPr/>
        </p:nvSpPr>
        <p:spPr>
          <a:xfrm xmlns:a="http://schemas.openxmlformats.org/drawingml/2006/main">
            <a:off x="5210175" y="222885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33"/>
          </a:bodyPr>
          <a:lstStyle xmlns:a="http://schemas.openxmlformats.org/drawingml/2006/main"/>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7 tài liệu Markdown</a:t>
            </a:r>
          </a:p>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chunk + lexical score</a:t>
            </a:r>
          </a:p>
        </p:txBody>
      </p:sp>
      <p:sp>
        <p:nvSpPr>
          <p:cNvPr id="24" name="arch-node-web">
            <a:extLst xmlns:a="http://schemas.openxmlformats.org/drawingml/2006/main">
              <a:ext uri="{FF2B5EF4-FFF2-40B4-BE49-F238E27FC236}">
                <a16:creationId xmlns:a16="http://schemas.microsoft.com/office/drawing/2014/main" id="{7C6AAC9D-0F3B-457D-84AA-5DD93CF749F4}"/>
              </a:ext>
            </a:extLst>
          </p:cNvPr>
          <p:cNvSpPr>
            <a:spLocks xmlns:a="http://schemas.openxmlformats.org/drawingml/2006/main" noGrp="1"/>
          </p:cNvSpPr>
          <p:nvPr/>
        </p:nvSpPr>
        <p:spPr>
          <a:xfrm xmlns:a="http://schemas.openxmlformats.org/drawingml/2006/main">
            <a:off x="5095875" y="2933700"/>
            <a:ext cx="2000250" cy="819150"/>
          </a:xfrm>
          <a:prstGeom xmlns:a="http://schemas.openxmlformats.org/drawingml/2006/main" prst="roundRect">
            <a:avLst>
              <a:gd name="adj" fmla="val 13953"/>
            </a:avLst>
          </a:prstGeom>
          <a:solidFill xmlns:a="http://schemas.openxmlformats.org/drawingml/2006/main">
            <a:srgbClr val="F8F3E9"/>
          </a:solidFill>
          <a:ln xmlns:a="http://schemas.openxmlformats.org/drawingml/2006/main" w="9525">
            <a:solidFill>
              <a:srgbClr val="D7E3DD"/>
            </a:solidFill>
            <a:prstDash val="solid"/>
          </a:ln>
        </p:spPr>
      </p:sp>
      <p:sp>
        <p:nvSpPr>
          <p:cNvPr id="25" name="arch-head-web">
            <a:extLst xmlns:a="http://schemas.openxmlformats.org/drawingml/2006/main">
              <a:ext uri="{FF2B5EF4-FFF2-40B4-BE49-F238E27FC236}">
                <a16:creationId xmlns:a16="http://schemas.microsoft.com/office/drawing/2014/main" id="{3996AE57-45C8-4B7D-A399-B3B579FFD2BA}"/>
              </a:ext>
            </a:extLst>
          </p:cNvPr>
          <p:cNvSpPr>
            <a:spLocks xmlns:a="http://schemas.openxmlformats.org/drawingml/2006/main" noGrp="1"/>
          </p:cNvSpPr>
          <p:nvPr/>
        </p:nvSpPr>
        <p:spPr>
          <a:xfrm xmlns:a="http://schemas.openxmlformats.org/drawingml/2006/main">
            <a:off x="5248275" y="30670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102A21"/>
                </a:solidFill>
                <a:latin typeface="Aptos"/>
                <a:ea typeface="Aptos"/>
                <a:cs typeface="Aptos"/>
              </a:defRPr>
            </a:pPr>
            <a:r>
              <a:rPr sz="1500" b="1">
                <a:solidFill>
                  <a:srgbClr val="102A21"/>
                </a:solidFill>
                <a:latin typeface="Aptos"/>
                <a:ea typeface="Aptos"/>
                <a:cs typeface="Aptos"/>
              </a:rPr>
              <a:t>Official tools</a:t>
            </a:r>
          </a:p>
        </p:txBody>
      </p:sp>
      <p:sp>
        <p:nvSpPr>
          <p:cNvPr id="26" name="arch-body-web">
            <a:extLst xmlns:a="http://schemas.openxmlformats.org/drawingml/2006/main">
              <a:ext uri="{FF2B5EF4-FFF2-40B4-BE49-F238E27FC236}">
                <a16:creationId xmlns:a16="http://schemas.microsoft.com/office/drawing/2014/main" id="{F6E8F43A-C39C-44F5-92E9-6618271196DB}"/>
              </a:ext>
            </a:extLst>
          </p:cNvPr>
          <p:cNvSpPr>
            <a:spLocks xmlns:a="http://schemas.openxmlformats.org/drawingml/2006/main" noGrp="1"/>
          </p:cNvSpPr>
          <p:nvPr/>
        </p:nvSpPr>
        <p:spPr>
          <a:xfrm xmlns:a="http://schemas.openxmlformats.org/drawingml/2006/main">
            <a:off x="5210175" y="335280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33"/>
          </a:bodyPr>
          <a:lstStyle xmlns:a="http://schemas.openxmlformats.org/drawingml/2006/main"/>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Tavily / Firecrawl</a:t>
            </a:r>
          </a:p>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VinUni · Vingroup</a:t>
            </a:r>
          </a:p>
        </p:txBody>
      </p:sp>
      <p:sp>
        <p:nvSpPr>
          <p:cNvPr id="27" name="arch-node-merge">
            <a:extLst xmlns:a="http://schemas.openxmlformats.org/drawingml/2006/main">
              <a:ext uri="{FF2B5EF4-FFF2-40B4-BE49-F238E27FC236}">
                <a16:creationId xmlns:a16="http://schemas.microsoft.com/office/drawing/2014/main" id="{166350B6-DF50-4AC5-A9B5-A2BFC13816DE}"/>
              </a:ext>
            </a:extLst>
          </p:cNvPr>
          <p:cNvSpPr>
            <a:spLocks xmlns:a="http://schemas.openxmlformats.org/drawingml/2006/main" noGrp="1"/>
          </p:cNvSpPr>
          <p:nvPr/>
        </p:nvSpPr>
        <p:spPr>
          <a:xfrm xmlns:a="http://schemas.openxmlformats.org/drawingml/2006/main">
            <a:off x="7715250" y="2238375"/>
            <a:ext cx="171450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7E3DD"/>
            </a:solidFill>
            <a:prstDash val="solid"/>
          </a:ln>
        </p:spPr>
      </p:sp>
      <p:sp>
        <p:nvSpPr>
          <p:cNvPr id="28" name="arch-head-merge">
            <a:extLst xmlns:a="http://schemas.openxmlformats.org/drawingml/2006/main">
              <a:ext uri="{FF2B5EF4-FFF2-40B4-BE49-F238E27FC236}">
                <a16:creationId xmlns:a16="http://schemas.microsoft.com/office/drawing/2014/main" id="{5EA454A2-7C15-4871-A782-93A094B9D3A2}"/>
              </a:ext>
            </a:extLst>
          </p:cNvPr>
          <p:cNvSpPr>
            <a:spLocks xmlns:a="http://schemas.openxmlformats.org/drawingml/2006/main" noGrp="1"/>
          </p:cNvSpPr>
          <p:nvPr/>
        </p:nvSpPr>
        <p:spPr>
          <a:xfrm xmlns:a="http://schemas.openxmlformats.org/drawingml/2006/main">
            <a:off x="7867650" y="2371725"/>
            <a:ext cx="140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102A21"/>
                </a:solidFill>
                <a:latin typeface="Aptos"/>
                <a:ea typeface="Aptos"/>
                <a:cs typeface="Aptos"/>
              </a:defRPr>
            </a:pPr>
            <a:r>
              <a:rPr sz="1500" b="1">
                <a:solidFill>
                  <a:srgbClr val="102A21"/>
                </a:solidFill>
                <a:latin typeface="Aptos"/>
                <a:ea typeface="Aptos"/>
                <a:cs typeface="Aptos"/>
              </a:rPr>
              <a:t>Context merge</a:t>
            </a:r>
          </a:p>
        </p:txBody>
      </p:sp>
      <p:sp>
        <p:nvSpPr>
          <p:cNvPr id="29" name="arch-body-merge">
            <a:extLst xmlns:a="http://schemas.openxmlformats.org/drawingml/2006/main">
              <a:ext uri="{FF2B5EF4-FFF2-40B4-BE49-F238E27FC236}">
                <a16:creationId xmlns:a16="http://schemas.microsoft.com/office/drawing/2014/main" id="{5BC08E26-55D3-41E3-B0E6-938BE484219F}"/>
              </a:ext>
            </a:extLst>
          </p:cNvPr>
          <p:cNvSpPr>
            <a:spLocks xmlns:a="http://schemas.openxmlformats.org/drawingml/2006/main" noGrp="1"/>
          </p:cNvSpPr>
          <p:nvPr/>
        </p:nvSpPr>
        <p:spPr>
          <a:xfrm xmlns:a="http://schemas.openxmlformats.org/drawingml/2006/main">
            <a:off x="7829550" y="2657475"/>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33"/>
          </a:bodyPr>
          <a:lstStyle xmlns:a="http://schemas.openxmlformats.org/drawingml/2006/main"/>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Loại trùng · ưu tiên</a:t>
            </a:r>
          </a:p>
          <a:p xmlns:a="http://schemas.openxmlformats.org/drawingml/2006/main">
            <a:pPr algn="ctr">
              <a:defRPr sz="1125" b="0">
                <a:solidFill>
                  <a:srgbClr val="64756E"/>
                </a:solidFill>
                <a:latin typeface="Aptos"/>
                <a:ea typeface="Aptos"/>
                <a:cs typeface="Aptos"/>
              </a:defRPr>
            </a:pPr>
            <a:r>
              <a:rPr sz="1125" b="0">
                <a:solidFill>
                  <a:srgbClr val="64756E"/>
                </a:solidFill>
                <a:latin typeface="Aptos"/>
                <a:ea typeface="Aptos"/>
                <a:cs typeface="Aptos"/>
              </a:rPr>
              <a:t>nguồn phù hợp</a:t>
            </a:r>
          </a:p>
        </p:txBody>
      </p:sp>
      <p:sp>
        <p:nvSpPr>
          <p:cNvPr id="30" name="arch-node-model">
            <a:extLst xmlns:a="http://schemas.openxmlformats.org/drawingml/2006/main">
              <a:ext uri="{FF2B5EF4-FFF2-40B4-BE49-F238E27FC236}">
                <a16:creationId xmlns:a16="http://schemas.microsoft.com/office/drawing/2014/main" id="{A4B9BAE1-FECF-42BF-A692-D84D010E3835}"/>
              </a:ext>
            </a:extLst>
          </p:cNvPr>
          <p:cNvSpPr>
            <a:spLocks xmlns:a="http://schemas.openxmlformats.org/drawingml/2006/main" noGrp="1"/>
          </p:cNvSpPr>
          <p:nvPr/>
        </p:nvSpPr>
        <p:spPr>
          <a:xfrm xmlns:a="http://schemas.openxmlformats.org/drawingml/2006/main">
            <a:off x="9953625" y="2238375"/>
            <a:ext cx="1619250" cy="819150"/>
          </a:xfrm>
          <a:prstGeom xmlns:a="http://schemas.openxmlformats.org/drawingml/2006/main" prst="roundRect">
            <a:avLst>
              <a:gd name="adj" fmla="val 13953"/>
            </a:avLst>
          </a:prstGeom>
          <a:solidFill xmlns:a="http://schemas.openxmlformats.org/drawingml/2006/main">
            <a:srgbClr val="07543E"/>
          </a:solidFill>
          <a:ln xmlns:a="http://schemas.openxmlformats.org/drawingml/2006/main" w="9525">
            <a:solidFill>
              <a:srgbClr val="07543E"/>
            </a:solidFill>
            <a:prstDash val="solid"/>
          </a:ln>
        </p:spPr>
      </p:sp>
      <p:sp>
        <p:nvSpPr>
          <p:cNvPr id="31" name="arch-head-model">
            <a:extLst xmlns:a="http://schemas.openxmlformats.org/drawingml/2006/main">
              <a:ext uri="{FF2B5EF4-FFF2-40B4-BE49-F238E27FC236}">
                <a16:creationId xmlns:a16="http://schemas.microsoft.com/office/drawing/2014/main" id="{E915D80A-B4EF-4CFA-8D9C-ADD80CD5227B}"/>
              </a:ext>
            </a:extLst>
          </p:cNvPr>
          <p:cNvSpPr>
            <a:spLocks xmlns:a="http://schemas.openxmlformats.org/drawingml/2006/main" noGrp="1"/>
          </p:cNvSpPr>
          <p:nvPr/>
        </p:nvSpPr>
        <p:spPr>
          <a:xfrm xmlns:a="http://schemas.openxmlformats.org/drawingml/2006/main">
            <a:off x="10106025" y="2371725"/>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Gemini</a:t>
            </a:r>
          </a:p>
        </p:txBody>
      </p:sp>
      <p:sp>
        <p:nvSpPr>
          <p:cNvPr id="32" name="arch-body-model">
            <a:extLst xmlns:a="http://schemas.openxmlformats.org/drawingml/2006/main">
              <a:ext uri="{FF2B5EF4-FFF2-40B4-BE49-F238E27FC236}">
                <a16:creationId xmlns:a16="http://schemas.microsoft.com/office/drawing/2014/main" id="{7DEC7823-E7BA-40B4-8BE4-30FC9DE41DCD}"/>
              </a:ext>
            </a:extLst>
          </p:cNvPr>
          <p:cNvSpPr>
            <a:spLocks xmlns:a="http://schemas.openxmlformats.org/drawingml/2006/main" noGrp="1"/>
          </p:cNvSpPr>
          <p:nvPr/>
        </p:nvSpPr>
        <p:spPr>
          <a:xfrm xmlns:a="http://schemas.openxmlformats.org/drawingml/2006/main">
            <a:off x="10067925" y="2657475"/>
            <a:ext cx="139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33"/>
          </a:bodyPr>
          <a:lstStyle xmlns:a="http://schemas.openxmlformats.org/drawingml/2006/main"/>
          <a:p xmlns:a="http://schemas.openxmlformats.org/drawingml/2006/main">
            <a:pPr algn="ctr">
              <a:defRPr sz="1125" b="0">
                <a:solidFill>
                  <a:srgbClr val="DCEDE6"/>
                </a:solidFill>
                <a:latin typeface="Aptos"/>
                <a:ea typeface="Aptos"/>
                <a:cs typeface="Aptos"/>
              </a:defRPr>
            </a:pPr>
            <a:r>
              <a:rPr sz="1125" b="0">
                <a:solidFill>
                  <a:srgbClr val="DCEDE6"/>
                </a:solidFill>
                <a:latin typeface="Aptos"/>
                <a:ea typeface="Aptos"/>
                <a:cs typeface="Aptos"/>
              </a:rPr>
              <a:t>Sinh câu trả lời</a:t>
            </a:r>
          </a:p>
          <a:p xmlns:a="http://schemas.openxmlformats.org/drawingml/2006/main">
            <a:pPr algn="ctr">
              <a:defRPr sz="1125" b="0">
                <a:solidFill>
                  <a:srgbClr val="DCEDE6"/>
                </a:solidFill>
                <a:latin typeface="Aptos"/>
                <a:ea typeface="Aptos"/>
                <a:cs typeface="Aptos"/>
              </a:defRPr>
            </a:pPr>
            <a:r>
              <a:rPr sz="1125" b="0">
                <a:solidFill>
                  <a:srgbClr val="DCEDE6"/>
                </a:solidFill>
                <a:latin typeface="Aptos"/>
                <a:ea typeface="Aptos"/>
                <a:cs typeface="Aptos"/>
              </a:rPr>
              <a:t>có ràng buộc</a:t>
            </a:r>
          </a:p>
        </p:txBody>
      </p:sp>
      <p:sp>
        <p:nvSpPr>
          <p:cNvPr id="33" name="arch-output">
            <a:extLst xmlns:a="http://schemas.openxmlformats.org/drawingml/2006/main">
              <a:ext uri="{FF2B5EF4-FFF2-40B4-BE49-F238E27FC236}">
                <a16:creationId xmlns:a16="http://schemas.microsoft.com/office/drawing/2014/main" id="{70644878-51D1-469D-98B0-4ED71A35F880}"/>
              </a:ext>
            </a:extLst>
          </p:cNvPr>
          <p:cNvSpPr>
            <a:spLocks xmlns:a="http://schemas.openxmlformats.org/drawingml/2006/main" noGrp="1"/>
          </p:cNvSpPr>
          <p:nvPr/>
        </p:nvSpPr>
        <p:spPr>
          <a:xfrm xmlns:a="http://schemas.openxmlformats.org/drawingml/2006/main">
            <a:off x="2476500" y="4610100"/>
            <a:ext cx="7239000" cy="723900"/>
          </a:xfrm>
          <a:prstGeom xmlns:a="http://schemas.openxmlformats.org/drawingml/2006/main" prst="roundRect">
            <a:avLst>
              <a:gd name="adj" fmla="val 15789"/>
            </a:avLst>
          </a:prstGeom>
          <a:solidFill xmlns:a="http://schemas.openxmlformats.org/drawingml/2006/main">
            <a:srgbClr val="07543E"/>
          </a:solidFill>
          <a:ln xmlns:a="http://schemas.openxmlformats.org/drawingml/2006/main" w="0">
            <a:noFill/>
            <a:prstDash val="solid"/>
          </a:ln>
        </p:spPr>
      </p:sp>
      <p:sp>
        <p:nvSpPr>
          <p:cNvPr id="34" name="arch-output-text">
            <a:extLst xmlns:a="http://schemas.openxmlformats.org/drawingml/2006/main">
              <a:ext uri="{FF2B5EF4-FFF2-40B4-BE49-F238E27FC236}">
                <a16:creationId xmlns:a16="http://schemas.microsoft.com/office/drawing/2014/main" id="{49F5B965-D6A4-4038-BC3C-8473E37724E4}"/>
              </a:ext>
            </a:extLst>
          </p:cNvPr>
          <p:cNvSpPr>
            <a:spLocks xmlns:a="http://schemas.openxmlformats.org/drawingml/2006/main" noGrp="1"/>
          </p:cNvSpPr>
          <p:nvPr/>
        </p:nvSpPr>
        <p:spPr>
          <a:xfrm xmlns:a="http://schemas.openxmlformats.org/drawingml/2006/main">
            <a:off x="2762250" y="48006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p xmlns:a="http://schemas.openxmlformats.org/drawingml/2006/main">
            <a:pPr algn="ctr">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Answer  +  citations  +  confidence  +  handoff</a:t>
            </a:r>
          </a:p>
        </p:txBody>
      </p:sp>
      <p:sp>
        <p:nvSpPr>
          <p:cNvPr id="35" name="arch-note">
            <a:extLst xmlns:a="http://schemas.openxmlformats.org/drawingml/2006/main">
              <a:ext uri="{FF2B5EF4-FFF2-40B4-BE49-F238E27FC236}">
                <a16:creationId xmlns:a16="http://schemas.microsoft.com/office/drawing/2014/main" id="{0AE52A36-803A-4492-B5A8-690F0B3CBE50}"/>
              </a:ext>
            </a:extLst>
          </p:cNvPr>
          <p:cNvSpPr>
            <a:spLocks xmlns:a="http://schemas.openxmlformats.org/drawingml/2006/main" noGrp="1"/>
          </p:cNvSpPr>
          <p:nvPr/>
        </p:nvSpPr>
        <p:spPr>
          <a:xfrm xmlns:a="http://schemas.openxmlformats.org/drawingml/2006/main">
            <a:off x="3238500" y="55816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00" b="1">
                <a:solidFill>
                  <a:srgbClr val="07543E"/>
                </a:solidFill>
                <a:latin typeface="Aptos"/>
                <a:ea typeface="Aptos"/>
                <a:cs typeface="Aptos"/>
              </a:defRPr>
            </a:pPr>
            <a:r>
              <a:rPr sz="1500" b="1">
                <a:solidFill>
                  <a:srgbClr val="07543E"/>
                </a:solidFill>
                <a:latin typeface="Aptos"/>
                <a:ea typeface="Aptos"/>
                <a:cs typeface="Aptos"/>
              </a:rPr>
              <a:t>Gemini là bộ sinh câu trả lời — không phải nguồn sự thật.</a:t>
            </a:r>
          </a:p>
        </p:txBody>
      </p:sp>
    </p:spTree>
    <p:extLst>
      <p:ext uri="{BB962C8B-B14F-4D97-AF65-F5344CB8AC3E}">
        <p14:creationId xmlns:p14="http://schemas.microsoft.com/office/powerpoint/2010/main" val="1070591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yebrow-6">
            <a:extLst xmlns:a="http://schemas.openxmlformats.org/drawingml/2006/main">
              <a:ext uri="{FF2B5EF4-FFF2-40B4-BE49-F238E27FC236}">
                <a16:creationId xmlns:a16="http://schemas.microsoft.com/office/drawing/2014/main" id="{D5E34685-2E89-4E67-9F27-382411E8502A}"/>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0A7352"/>
                </a:solidFill>
                <a:latin typeface="Aptos"/>
                <a:ea typeface="Aptos"/>
                <a:cs typeface="Aptos"/>
              </a:defRPr>
            </a:pPr>
            <a:r>
              <a:rPr sz="1050" b="1">
                <a:solidFill>
                  <a:srgbClr val="0A7352"/>
                </a:solidFill>
                <a:latin typeface="Aptos"/>
                <a:ea typeface="Aptos"/>
                <a:cs typeface="Aptos"/>
              </a:rPr>
              <a:t>SẢN PHẨM THẬT</a:t>
            </a:r>
          </a:p>
        </p:txBody>
      </p:sp>
      <p:sp>
        <p:nvSpPr>
          <p:cNvPr id="2" name="title-6">
            <a:extLst xmlns:a="http://schemas.openxmlformats.org/drawingml/2006/main">
              <a:ext uri="{FF2B5EF4-FFF2-40B4-BE49-F238E27FC236}">
                <a16:creationId xmlns:a16="http://schemas.microsoft.com/office/drawing/2014/main" id="{32A45D47-491D-42CE-96C0-71BF94DCEE99}"/>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2A21"/>
                </a:solidFill>
                <a:latin typeface="Aptos Display"/>
                <a:ea typeface="Aptos Display"/>
                <a:cs typeface="Aptos Display"/>
              </a:defRPr>
            </a:pPr>
            <a:r>
              <a:rPr sz="3150" b="1">
                <a:solidFill>
                  <a:srgbClr val="102A21"/>
                </a:solidFill>
                <a:latin typeface="Aptos Display"/>
                <a:ea typeface="Aptos Display"/>
                <a:cs typeface="Aptos Display"/>
              </a:rPr>
              <a:t>Onboarding tạo niềm tin trước khi bắt đầu</a:t>
            </a:r>
          </a:p>
        </p:txBody>
      </p:sp>
      <p:sp>
        <p:nvSpPr>
          <p:cNvPr id="3" name="footer-6">
            <a:extLst xmlns:a="http://schemas.openxmlformats.org/drawingml/2006/main">
              <a:ext uri="{FF2B5EF4-FFF2-40B4-BE49-F238E27FC236}">
                <a16:creationId xmlns:a16="http://schemas.microsoft.com/office/drawing/2014/main" id="{1F1865E1-F9EC-4076-8CBF-88096E8E0841}"/>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64756E"/>
                </a:solidFill>
                <a:latin typeface="Aptos"/>
                <a:ea typeface="Aptos"/>
                <a:cs typeface="Aptos"/>
              </a:defRPr>
            </a:pPr>
            <a:r>
              <a:rPr sz="825" b="1">
                <a:solidFill>
                  <a:srgbClr val="64756E"/>
                </a:solidFill>
                <a:latin typeface="Aptos"/>
                <a:ea typeface="Aptos"/>
                <a:cs typeface="Aptos"/>
              </a:rPr>
              <a:t>AI THỰC CHIẾN  ·  NHỮNG CON VỊT BẦU</a:t>
            </a:r>
          </a:p>
        </p:txBody>
      </p:sp>
      <p:sp>
        <p:nvSpPr>
          <p:cNvPr id="4" name="page-6">
            <a:extLst xmlns:a="http://schemas.openxmlformats.org/drawingml/2006/main">
              <a:ext uri="{FF2B5EF4-FFF2-40B4-BE49-F238E27FC236}">
                <a16:creationId xmlns:a16="http://schemas.microsoft.com/office/drawing/2014/main" id="{FBC93E06-8290-4ED0-92F1-8B2A7EE8FFAB}"/>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64756E"/>
                </a:solidFill>
                <a:latin typeface="Aptos"/>
                <a:ea typeface="Aptos"/>
                <a:cs typeface="Aptos"/>
              </a:defRPr>
            </a:pPr>
            <a:r>
              <a:rPr sz="825" b="1">
                <a:solidFill>
                  <a:srgbClr val="64756E"/>
                </a:solidFill>
                <a:latin typeface="Aptos"/>
                <a:ea typeface="Aptos"/>
                <a:cs typeface="Aptos"/>
              </a:rPr>
              <a:t>06</a:t>
            </a:r>
          </a:p>
        </p:txBody>
      </p:sp>
      <p:sp>
        <p:nvSpPr>
          <p:cNvPr id="5" name="login-copy-head">
            <a:extLst xmlns:a="http://schemas.openxmlformats.org/drawingml/2006/main">
              <a:ext uri="{FF2B5EF4-FFF2-40B4-BE49-F238E27FC236}">
                <a16:creationId xmlns:a16="http://schemas.microsoft.com/office/drawing/2014/main" id="{190FD8D6-456F-46A1-A2E0-FBE1447C0529}"/>
              </a:ext>
            </a:extLst>
          </p:cNvPr>
          <p:cNvSpPr>
            <a:spLocks xmlns:a="http://schemas.openxmlformats.org/drawingml/2006/main" noGrp="1"/>
          </p:cNvSpPr>
          <p:nvPr/>
        </p:nvSpPr>
        <p:spPr>
          <a:xfrm xmlns:a="http://schemas.openxmlformats.org/drawingml/2006/main">
            <a:off x="609600" y="1790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103"/>
          </a:bodyPr>
          <a:lstStyle xmlns:a="http://schemas.openxmlformats.org/drawingml/2006/main"/>
          <a:p xmlns:a="http://schemas.openxmlformats.org/drawingml/2006/main">
            <a:pPr algn="l">
              <a:defRPr sz="2175" b="1">
                <a:solidFill>
                  <a:srgbClr val="102A21"/>
                </a:solidFill>
                <a:latin typeface="Aptos Display"/>
                <a:ea typeface="Aptos Display"/>
                <a:cs typeface="Aptos Display"/>
              </a:defRPr>
            </a:pPr>
            <a:r>
              <a:rPr sz="2175" b="1">
                <a:solidFill>
                  <a:srgbClr val="102A21"/>
                </a:solidFill>
                <a:latin typeface="Aptos Display"/>
                <a:ea typeface="Aptos Display"/>
                <a:cs typeface="Aptos Display"/>
              </a:rPr>
              <a:t>Một cổng vào rõ ràng</a:t>
            </a:r>
          </a:p>
        </p:txBody>
      </p:sp>
      <p:sp>
        <p:nvSpPr>
          <p:cNvPr id="6" name="login-copy">
            <a:extLst xmlns:a="http://schemas.openxmlformats.org/drawingml/2006/main">
              <a:ext uri="{FF2B5EF4-FFF2-40B4-BE49-F238E27FC236}">
                <a16:creationId xmlns:a16="http://schemas.microsoft.com/office/drawing/2014/main" id="{DF837C08-B14D-426E-8FAE-620DC19A4C30}"/>
              </a:ext>
            </a:extLst>
          </p:cNvPr>
          <p:cNvSpPr>
            <a:spLocks xmlns:a="http://schemas.openxmlformats.org/drawingml/2006/main" noGrp="1"/>
          </p:cNvSpPr>
          <p:nvPr/>
        </p:nvSpPr>
        <p:spPr>
          <a:xfrm xmlns:a="http://schemas.openxmlformats.org/drawingml/2006/main">
            <a:off x="609600" y="2400300"/>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64756E"/>
                </a:solidFill>
                <a:latin typeface="Aptos"/>
                <a:ea typeface="Aptos"/>
                <a:cs typeface="Aptos"/>
              </a:defRPr>
            </a:pPr>
            <a:r>
              <a:rPr sz="1500" b="0">
                <a:solidFill>
                  <a:srgbClr val="64756E"/>
                </a:solidFill>
                <a:latin typeface="Aptos"/>
                <a:ea typeface="Aptos"/>
                <a:cs typeface="Aptos"/>
              </a:rPr>
              <a:t>• Định vị đúng đối tượng Track C</a:t>
            </a:r>
          </a:p>
          <a:p xmlns:a="http://schemas.openxmlformats.org/drawingml/2006/main">
            <a:r>
              <a:t/>
            </a:r>
          </a:p>
          <a:p xmlns:a="http://schemas.openxmlformats.org/drawingml/2006/main">
            <a:pPr algn="l">
              <a:defRPr sz="1500" b="0">
                <a:solidFill>
                  <a:srgbClr val="64756E"/>
                </a:solidFill>
                <a:latin typeface="Aptos"/>
                <a:ea typeface="Aptos"/>
                <a:cs typeface="Aptos"/>
              </a:defRPr>
            </a:pPr>
            <a:r>
              <a:rPr sz="1500" b="0">
                <a:solidFill>
                  <a:srgbClr val="64756E"/>
                </a:solidFill>
                <a:latin typeface="Aptos"/>
                <a:ea typeface="Aptos"/>
                <a:cs typeface="Aptos"/>
              </a:rPr>
              <a:t>• Nêu rõ đăng nhập chỉ là mô phỏng</a:t>
            </a:r>
          </a:p>
          <a:p xmlns:a="http://schemas.openxmlformats.org/drawingml/2006/main">
            <a:r>
              <a:t/>
            </a:r>
          </a:p>
          <a:p xmlns:a="http://schemas.openxmlformats.org/drawingml/2006/main">
            <a:pPr algn="l">
              <a:defRPr sz="1500" b="0">
                <a:solidFill>
                  <a:srgbClr val="64756E"/>
                </a:solidFill>
                <a:latin typeface="Aptos"/>
                <a:ea typeface="Aptos"/>
                <a:cs typeface="Aptos"/>
              </a:defRPr>
            </a:pPr>
            <a:r>
              <a:rPr sz="1500" b="0">
                <a:solidFill>
                  <a:srgbClr val="64756E"/>
                </a:solidFill>
                <a:latin typeface="Aptos"/>
                <a:ea typeface="Aptos"/>
                <a:cs typeface="Aptos"/>
              </a:rPr>
              <a:t>• Không gửi hoặc lưu mật khẩu</a:t>
            </a:r>
          </a:p>
          <a:p xmlns:a="http://schemas.openxmlformats.org/drawingml/2006/main">
            <a:r>
              <a:t/>
            </a:r>
          </a:p>
          <a:p xmlns:a="http://schemas.openxmlformats.org/drawingml/2006/main">
            <a:pPr algn="l">
              <a:defRPr sz="1500" b="0">
                <a:solidFill>
                  <a:srgbClr val="64756E"/>
                </a:solidFill>
                <a:latin typeface="Aptos"/>
                <a:ea typeface="Aptos"/>
                <a:cs typeface="Aptos"/>
              </a:defRPr>
            </a:pPr>
            <a:r>
              <a:rPr sz="1500" b="0">
                <a:solidFill>
                  <a:srgbClr val="64756E"/>
                </a:solidFill>
                <a:latin typeface="Aptos"/>
                <a:ea typeface="Aptos"/>
                <a:cs typeface="Aptos"/>
              </a:rPr>
              <a:t>• Responsive trên desktop và mobile</a:t>
            </a:r>
          </a:p>
        </p:txBody>
      </p:sp>
      <p:sp>
        <p:nvSpPr>
          <p:cNvPr id="7" name="login-shot-frame">
            <a:extLst xmlns:a="http://schemas.openxmlformats.org/drawingml/2006/main">
              <a:ext uri="{FF2B5EF4-FFF2-40B4-BE49-F238E27FC236}">
                <a16:creationId xmlns:a16="http://schemas.microsoft.com/office/drawing/2014/main" id="{25DCB328-3C01-42B6-BD5F-8A4EF83B9224}"/>
              </a:ext>
            </a:extLst>
          </p:cNvPr>
          <p:cNvSpPr>
            <a:spLocks xmlns:a="http://schemas.openxmlformats.org/drawingml/2006/main" noGrp="1"/>
          </p:cNvSpPr>
          <p:nvPr/>
        </p:nvSpPr>
        <p:spPr>
          <a:xfrm xmlns:a="http://schemas.openxmlformats.org/drawingml/2006/main">
            <a:off x="4114800" y="1581150"/>
            <a:ext cx="7486650" cy="4219575"/>
          </a:xfrm>
          <a:prstGeom xmlns:a="http://schemas.openxmlformats.org/drawingml/2006/main" prst="roundRect">
            <a:avLst>
              <a:gd name="adj" fmla="val 2709"/>
            </a:avLst>
          </a:prstGeom>
          <a:solidFill xmlns:a="http://schemas.openxmlformats.org/drawingml/2006/main">
            <a:srgbClr val="EDF3F0"/>
          </a:solidFill>
          <a:ln xmlns:a="http://schemas.openxmlformats.org/drawingml/2006/main" w="9525">
            <a:solidFill>
              <a:srgbClr val="D7E3DD"/>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11d1845018c4a50"/>
          <a:srcRect xmlns:a="http://schemas.openxmlformats.org/drawingml/2006/main" l="0" t="6010" r="0" b="6010"/>
          <a:stretch xmlns:a="http://schemas.openxmlformats.org/drawingml/2006/main">
            <a:fillRect l="0" t="0" r="0" b="0"/>
          </a:stretch>
        </p:blipFill>
        <p:spPr>
          <a:xfrm xmlns:a="http://schemas.openxmlformats.org/drawingml/2006/main">
            <a:off x="4229100" y="1695450"/>
            <a:ext cx="7258050" cy="3990975"/>
          </a:xfrm>
          <a:prstGeom xmlns:a="http://schemas.openxmlformats.org/drawingml/2006/main" prst="roundRect">
            <a:avLst>
              <a:gd name="adj" fmla="val 1909"/>
            </a:avLst>
          </a:prstGeom>
        </p:spPr>
      </p:pic>
      <p:sp>
        <p:nvSpPr>
          <p:cNvPr id="9" name="login-caption">
            <a:extLst xmlns:a="http://schemas.openxmlformats.org/drawingml/2006/main">
              <a:ext uri="{FF2B5EF4-FFF2-40B4-BE49-F238E27FC236}">
                <a16:creationId xmlns:a16="http://schemas.microsoft.com/office/drawing/2014/main" id="{A70BE344-4094-4B84-A635-3E8529991288}"/>
              </a:ext>
            </a:extLst>
          </p:cNvPr>
          <p:cNvSpPr>
            <a:spLocks xmlns:a="http://schemas.openxmlformats.org/drawingml/2006/main" noGrp="1"/>
          </p:cNvSpPr>
          <p:nvPr/>
        </p:nvSpPr>
        <p:spPr>
          <a:xfrm xmlns:a="http://schemas.openxmlformats.org/drawingml/2006/main">
            <a:off x="4267200" y="590550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19"/>
          </a:bodyPr>
          <a:lstStyle xmlns:a="http://schemas.openxmlformats.org/drawingml/2006/main"/>
          <a:p xmlns:a="http://schemas.openxmlformats.org/drawingml/2006/main">
            <a:pPr algn="ctr">
              <a:defRPr sz="1050" b="0">
                <a:solidFill>
                  <a:srgbClr val="64756E"/>
                </a:solidFill>
                <a:latin typeface="Aptos"/>
                <a:ea typeface="Aptos"/>
                <a:cs typeface="Aptos"/>
              </a:defRPr>
            </a:pPr>
            <a:r>
              <a:rPr sz="1050" b="0">
                <a:solidFill>
                  <a:srgbClr val="64756E"/>
                </a:solidFill>
                <a:latin typeface="Aptos"/>
                <a:ea typeface="Aptos"/>
                <a:cs typeface="Aptos"/>
              </a:rPr>
              <a:t>Giao diện demo · dữ liệu đăng nhập không được xác thực hoặc lưu trên máy chủ</a:t>
            </a:r>
          </a:p>
        </p:txBody>
      </p:sp>
    </p:spTree>
    <p:extLst>
      <p:ext uri="{BB962C8B-B14F-4D97-AF65-F5344CB8AC3E}">
        <p14:creationId xmlns:p14="http://schemas.microsoft.com/office/powerpoint/2010/main" val="19561848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7">
            <a:extLst xmlns:a="http://schemas.openxmlformats.org/drawingml/2006/main">
              <a:ext uri="{FF2B5EF4-FFF2-40B4-BE49-F238E27FC236}">
                <a16:creationId xmlns:a16="http://schemas.microsoft.com/office/drawing/2014/main" id="{4FFF1BBF-0BFB-4657-9234-B28FFD592E21}"/>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0A7352"/>
                </a:solidFill>
                <a:latin typeface="Aptos"/>
                <a:ea typeface="Aptos"/>
                <a:cs typeface="Aptos"/>
              </a:defRPr>
            </a:pPr>
            <a:r>
              <a:rPr sz="1050" b="1">
                <a:solidFill>
                  <a:srgbClr val="0A7352"/>
                </a:solidFill>
                <a:latin typeface="Aptos"/>
                <a:ea typeface="Aptos"/>
                <a:cs typeface="Aptos"/>
              </a:rPr>
              <a:t>TRẢI NGHIỆM CHÍNH</a:t>
            </a:r>
          </a:p>
        </p:txBody>
      </p:sp>
      <p:sp>
        <p:nvSpPr>
          <p:cNvPr id="2" name="title-7">
            <a:extLst xmlns:a="http://schemas.openxmlformats.org/drawingml/2006/main">
              <a:ext uri="{FF2B5EF4-FFF2-40B4-BE49-F238E27FC236}">
                <a16:creationId xmlns:a16="http://schemas.microsoft.com/office/drawing/2014/main" id="{E76BDDF7-88DA-49AC-9CDB-199C22EF73EA}"/>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2A21"/>
                </a:solidFill>
                <a:latin typeface="Aptos Display"/>
                <a:ea typeface="Aptos Display"/>
                <a:cs typeface="Aptos Display"/>
              </a:defRPr>
            </a:pPr>
            <a:r>
              <a:rPr sz="3150" b="1">
                <a:solidFill>
                  <a:srgbClr val="102A21"/>
                </a:solidFill>
                <a:latin typeface="Aptos Display"/>
                <a:ea typeface="Aptos Display"/>
                <a:cs typeface="Aptos Display"/>
              </a:rPr>
              <a:t>Câu trả lời không chỉ là một đoạn văn</a:t>
            </a:r>
          </a:p>
        </p:txBody>
      </p:sp>
      <p:sp>
        <p:nvSpPr>
          <p:cNvPr id="3" name="footer-7">
            <a:extLst xmlns:a="http://schemas.openxmlformats.org/drawingml/2006/main">
              <a:ext uri="{FF2B5EF4-FFF2-40B4-BE49-F238E27FC236}">
                <a16:creationId xmlns:a16="http://schemas.microsoft.com/office/drawing/2014/main" id="{E74689EF-34B8-403A-A2D0-CCF486B76AD6}"/>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64756E"/>
                </a:solidFill>
                <a:latin typeface="Aptos"/>
                <a:ea typeface="Aptos"/>
                <a:cs typeface="Aptos"/>
              </a:defRPr>
            </a:pPr>
            <a:r>
              <a:rPr sz="825" b="1">
                <a:solidFill>
                  <a:srgbClr val="64756E"/>
                </a:solidFill>
                <a:latin typeface="Aptos"/>
                <a:ea typeface="Aptos"/>
                <a:cs typeface="Aptos"/>
              </a:rPr>
              <a:t>AI THỰC CHIẾN  ·  NHỮNG CON VỊT BẦU</a:t>
            </a:r>
          </a:p>
        </p:txBody>
      </p:sp>
      <p:sp>
        <p:nvSpPr>
          <p:cNvPr id="4" name="page-7">
            <a:extLst xmlns:a="http://schemas.openxmlformats.org/drawingml/2006/main">
              <a:ext uri="{FF2B5EF4-FFF2-40B4-BE49-F238E27FC236}">
                <a16:creationId xmlns:a16="http://schemas.microsoft.com/office/drawing/2014/main" id="{23435BC4-98B1-4441-99F9-8C83F9655C0B}"/>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64756E"/>
                </a:solidFill>
                <a:latin typeface="Aptos"/>
                <a:ea typeface="Aptos"/>
                <a:cs typeface="Aptos"/>
              </a:defRPr>
            </a:pPr>
            <a:r>
              <a:rPr sz="825" b="1">
                <a:solidFill>
                  <a:srgbClr val="64756E"/>
                </a:solidFill>
                <a:latin typeface="Aptos"/>
                <a:ea typeface="Aptos"/>
                <a:cs typeface="Aptos"/>
              </a:rPr>
              <a:t>07</a:t>
            </a:r>
          </a:p>
        </p:txBody>
      </p:sp>
      <p:sp>
        <p:nvSpPr>
          <p:cNvPr id="5" name="chat-shot-frame">
            <a:extLst xmlns:a="http://schemas.openxmlformats.org/drawingml/2006/main">
              <a:ext uri="{FF2B5EF4-FFF2-40B4-BE49-F238E27FC236}">
                <a16:creationId xmlns:a16="http://schemas.microsoft.com/office/drawing/2014/main" id="{CE1948BA-53C0-42F6-A893-221DD2500957}"/>
              </a:ext>
            </a:extLst>
          </p:cNvPr>
          <p:cNvSpPr>
            <a:spLocks xmlns:a="http://schemas.openxmlformats.org/drawingml/2006/main" noGrp="1"/>
          </p:cNvSpPr>
          <p:nvPr/>
        </p:nvSpPr>
        <p:spPr>
          <a:xfrm xmlns:a="http://schemas.openxmlformats.org/drawingml/2006/main">
            <a:off x="514350" y="1524000"/>
            <a:ext cx="7524750" cy="4457700"/>
          </a:xfrm>
          <a:prstGeom xmlns:a="http://schemas.openxmlformats.org/drawingml/2006/main" prst="roundRect">
            <a:avLst>
              <a:gd name="adj" fmla="val 2564"/>
            </a:avLst>
          </a:prstGeom>
          <a:solidFill xmlns:a="http://schemas.openxmlformats.org/drawingml/2006/main">
            <a:srgbClr val="EDF3F0"/>
          </a:solidFill>
          <a:ln xmlns:a="http://schemas.openxmlformats.org/drawingml/2006/main" w="9525">
            <a:solidFill>
              <a:srgbClr val="D7E3DD"/>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74132bd380047ef"/>
          <a:srcRect xmlns:a="http://schemas.openxmlformats.org/drawingml/2006/main" l="0" t="3649" r="0" b="3649"/>
          <a:stretch xmlns:a="http://schemas.openxmlformats.org/drawingml/2006/main">
            <a:fillRect l="0" t="0" r="0" b="0"/>
          </a:stretch>
        </p:blipFill>
        <p:spPr>
          <a:xfrm xmlns:a="http://schemas.openxmlformats.org/drawingml/2006/main">
            <a:off x="628650" y="1638300"/>
            <a:ext cx="7296150" cy="4229100"/>
          </a:xfrm>
          <a:prstGeom xmlns:a="http://schemas.openxmlformats.org/drawingml/2006/main" prst="roundRect">
            <a:avLst>
              <a:gd name="adj" fmla="val 1802"/>
            </a:avLst>
          </a:prstGeom>
        </p:spPr>
      </p:pic>
      <p:sp>
        <p:nvSpPr>
          <p:cNvPr id="7" name="chat-item-num-0">
            <a:extLst xmlns:a="http://schemas.openxmlformats.org/drawingml/2006/main">
              <a:ext uri="{FF2B5EF4-FFF2-40B4-BE49-F238E27FC236}">
                <a16:creationId xmlns:a16="http://schemas.microsoft.com/office/drawing/2014/main" id="{FB04AC17-C66C-4954-AE5C-21D7655FC72B}"/>
              </a:ext>
            </a:extLst>
          </p:cNvPr>
          <p:cNvSpPr>
            <a:spLocks xmlns:a="http://schemas.openxmlformats.org/drawingml/2006/main" noGrp="1"/>
          </p:cNvSpPr>
          <p:nvPr/>
        </p:nvSpPr>
        <p:spPr>
          <a:xfrm xmlns:a="http://schemas.openxmlformats.org/drawingml/2006/main">
            <a:off x="8439150" y="16192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0A7352"/>
                </a:solidFill>
                <a:latin typeface="Aptos"/>
                <a:ea typeface="Aptos"/>
                <a:cs typeface="Aptos"/>
              </a:defRPr>
            </a:pPr>
            <a:r>
              <a:rPr sz="1350" b="1">
                <a:solidFill>
                  <a:srgbClr val="0A7352"/>
                </a:solidFill>
                <a:latin typeface="Aptos"/>
                <a:ea typeface="Aptos"/>
                <a:cs typeface="Aptos"/>
              </a:rPr>
              <a:t>01</a:t>
            </a:r>
          </a:p>
        </p:txBody>
      </p:sp>
      <p:sp>
        <p:nvSpPr>
          <p:cNvPr id="8" name="chat-item-head-0">
            <a:extLst xmlns:a="http://schemas.openxmlformats.org/drawingml/2006/main">
              <a:ext uri="{FF2B5EF4-FFF2-40B4-BE49-F238E27FC236}">
                <a16:creationId xmlns:a16="http://schemas.microsoft.com/office/drawing/2014/main" id="{E4BD8415-EF59-488A-9DF5-83BF1CDF6F85}"/>
              </a:ext>
            </a:extLst>
          </p:cNvPr>
          <p:cNvSpPr>
            <a:spLocks xmlns:a="http://schemas.openxmlformats.org/drawingml/2006/main" noGrp="1"/>
          </p:cNvSpPr>
          <p:nvPr/>
        </p:nvSpPr>
        <p:spPr>
          <a:xfrm xmlns:a="http://schemas.openxmlformats.org/drawingml/2006/main">
            <a:off x="8934450" y="1600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Gợi ý câu hỏi</a:t>
            </a:r>
          </a:p>
        </p:txBody>
      </p:sp>
      <p:sp>
        <p:nvSpPr>
          <p:cNvPr id="9" name="chat-item-body-0">
            <a:extLst xmlns:a="http://schemas.openxmlformats.org/drawingml/2006/main">
              <a:ext uri="{FF2B5EF4-FFF2-40B4-BE49-F238E27FC236}">
                <a16:creationId xmlns:a16="http://schemas.microsoft.com/office/drawing/2014/main" id="{DA516C78-2A2B-4191-BF03-E90FA5CD2E1D}"/>
              </a:ext>
            </a:extLst>
          </p:cNvPr>
          <p:cNvSpPr>
            <a:spLocks xmlns:a="http://schemas.openxmlformats.org/drawingml/2006/main" noGrp="1"/>
          </p:cNvSpPr>
          <p:nvPr/>
        </p:nvSpPr>
        <p:spPr>
          <a:xfrm xmlns:a="http://schemas.openxmlformats.org/drawingml/2006/main">
            <a:off x="8934450" y="195262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4756E"/>
                </a:solidFill>
                <a:latin typeface="Aptos"/>
                <a:ea typeface="Aptos"/>
                <a:cs typeface="Aptos"/>
              </a:defRPr>
            </a:pPr>
            <a:r>
              <a:rPr sz="1200" b="0">
                <a:solidFill>
                  <a:srgbClr val="64756E"/>
                </a:solidFill>
                <a:latin typeface="Aptos"/>
                <a:ea typeface="Aptos"/>
                <a:cs typeface="Aptos"/>
              </a:rPr>
              <a:t>Giảm blank-page anxiety cho người mới.</a:t>
            </a:r>
          </a:p>
        </p:txBody>
      </p:sp>
      <p:sp>
        <p:nvSpPr>
          <p:cNvPr id="10" name="chat-item-num-1">
            <a:extLst xmlns:a="http://schemas.openxmlformats.org/drawingml/2006/main">
              <a:ext uri="{FF2B5EF4-FFF2-40B4-BE49-F238E27FC236}">
                <a16:creationId xmlns:a16="http://schemas.microsoft.com/office/drawing/2014/main" id="{629B4491-6B04-4024-9616-5882DAA8F721}"/>
              </a:ext>
            </a:extLst>
          </p:cNvPr>
          <p:cNvSpPr>
            <a:spLocks xmlns:a="http://schemas.openxmlformats.org/drawingml/2006/main" noGrp="1"/>
          </p:cNvSpPr>
          <p:nvPr/>
        </p:nvSpPr>
        <p:spPr>
          <a:xfrm xmlns:a="http://schemas.openxmlformats.org/drawingml/2006/main">
            <a:off x="8439150" y="26860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0A7352"/>
                </a:solidFill>
                <a:latin typeface="Aptos"/>
                <a:ea typeface="Aptos"/>
                <a:cs typeface="Aptos"/>
              </a:defRPr>
            </a:pPr>
            <a:r>
              <a:rPr sz="1350" b="1">
                <a:solidFill>
                  <a:srgbClr val="0A7352"/>
                </a:solidFill>
                <a:latin typeface="Aptos"/>
                <a:ea typeface="Aptos"/>
                <a:cs typeface="Aptos"/>
              </a:rPr>
              <a:t>02</a:t>
            </a:r>
          </a:p>
        </p:txBody>
      </p:sp>
      <p:sp>
        <p:nvSpPr>
          <p:cNvPr id="11" name="chat-item-head-1">
            <a:extLst xmlns:a="http://schemas.openxmlformats.org/drawingml/2006/main">
              <a:ext uri="{FF2B5EF4-FFF2-40B4-BE49-F238E27FC236}">
                <a16:creationId xmlns:a16="http://schemas.microsoft.com/office/drawing/2014/main" id="{C3779C93-B1BB-4531-B36B-AFE0FC9B351C}"/>
              </a:ext>
            </a:extLst>
          </p:cNvPr>
          <p:cNvSpPr>
            <a:spLocks xmlns:a="http://schemas.openxmlformats.org/drawingml/2006/main" noGrp="1"/>
          </p:cNvSpPr>
          <p:nvPr/>
        </p:nvSpPr>
        <p:spPr>
          <a:xfrm xmlns:a="http://schemas.openxmlformats.org/drawingml/2006/main">
            <a:off x="8934450" y="26670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Readiness check</a:t>
            </a:r>
          </a:p>
        </p:txBody>
      </p:sp>
      <p:sp>
        <p:nvSpPr>
          <p:cNvPr id="12" name="chat-item-body-1">
            <a:extLst xmlns:a="http://schemas.openxmlformats.org/drawingml/2006/main">
              <a:ext uri="{FF2B5EF4-FFF2-40B4-BE49-F238E27FC236}">
                <a16:creationId xmlns:a16="http://schemas.microsoft.com/office/drawing/2014/main" id="{240A15BD-BBE4-4976-B4B6-ECEB65A39740}"/>
              </a:ext>
            </a:extLst>
          </p:cNvPr>
          <p:cNvSpPr>
            <a:spLocks xmlns:a="http://schemas.openxmlformats.org/drawingml/2006/main" noGrp="1"/>
          </p:cNvSpPr>
          <p:nvPr/>
        </p:nvSpPr>
        <p:spPr>
          <a:xfrm xmlns:a="http://schemas.openxmlformats.org/drawingml/2006/main">
            <a:off x="8934450" y="301942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4756E"/>
                </a:solidFill>
                <a:latin typeface="Aptos"/>
                <a:ea typeface="Aptos"/>
                <a:cs typeface="Aptos"/>
              </a:defRPr>
            </a:pPr>
            <a:r>
              <a:rPr sz="1200" b="0">
                <a:solidFill>
                  <a:srgbClr val="64756E"/>
                </a:solidFill>
                <a:latin typeface="Aptos"/>
                <a:ea typeface="Aptos"/>
                <a:cs typeface="Aptos"/>
              </a:rPr>
              <a:t>Biến câu trả lời thành lộ trình chuẩn bị.</a:t>
            </a:r>
          </a:p>
        </p:txBody>
      </p:sp>
      <p:sp>
        <p:nvSpPr>
          <p:cNvPr id="13" name="chat-item-num-2">
            <a:extLst xmlns:a="http://schemas.openxmlformats.org/drawingml/2006/main">
              <a:ext uri="{FF2B5EF4-FFF2-40B4-BE49-F238E27FC236}">
                <a16:creationId xmlns:a16="http://schemas.microsoft.com/office/drawing/2014/main" id="{54C37B63-466F-4F46-A71F-45B2A914B62F}"/>
              </a:ext>
            </a:extLst>
          </p:cNvPr>
          <p:cNvSpPr>
            <a:spLocks xmlns:a="http://schemas.openxmlformats.org/drawingml/2006/main" noGrp="1"/>
          </p:cNvSpPr>
          <p:nvPr/>
        </p:nvSpPr>
        <p:spPr>
          <a:xfrm xmlns:a="http://schemas.openxmlformats.org/drawingml/2006/main">
            <a:off x="8439150" y="37528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0A7352"/>
                </a:solidFill>
                <a:latin typeface="Aptos"/>
                <a:ea typeface="Aptos"/>
                <a:cs typeface="Aptos"/>
              </a:defRPr>
            </a:pPr>
            <a:r>
              <a:rPr sz="1350" b="1">
                <a:solidFill>
                  <a:srgbClr val="0A7352"/>
                </a:solidFill>
                <a:latin typeface="Aptos"/>
                <a:ea typeface="Aptos"/>
                <a:cs typeface="Aptos"/>
              </a:rPr>
              <a:t>03</a:t>
            </a:r>
          </a:p>
        </p:txBody>
      </p:sp>
      <p:sp>
        <p:nvSpPr>
          <p:cNvPr id="14" name="chat-item-head-2">
            <a:extLst xmlns:a="http://schemas.openxmlformats.org/drawingml/2006/main">
              <a:ext uri="{FF2B5EF4-FFF2-40B4-BE49-F238E27FC236}">
                <a16:creationId xmlns:a16="http://schemas.microsoft.com/office/drawing/2014/main" id="{A9E16BDA-F0F8-4501-A7D2-053AD677C491}"/>
              </a:ext>
            </a:extLst>
          </p:cNvPr>
          <p:cNvSpPr>
            <a:spLocks xmlns:a="http://schemas.openxmlformats.org/drawingml/2006/main" noGrp="1"/>
          </p:cNvSpPr>
          <p:nvPr/>
        </p:nvSpPr>
        <p:spPr>
          <a:xfrm xmlns:a="http://schemas.openxmlformats.org/drawingml/2006/main">
            <a:off x="8934450" y="37338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Decision trace</a:t>
            </a:r>
          </a:p>
        </p:txBody>
      </p:sp>
      <p:sp>
        <p:nvSpPr>
          <p:cNvPr id="15" name="chat-item-body-2">
            <a:extLst xmlns:a="http://schemas.openxmlformats.org/drawingml/2006/main">
              <a:ext uri="{FF2B5EF4-FFF2-40B4-BE49-F238E27FC236}">
                <a16:creationId xmlns:a16="http://schemas.microsoft.com/office/drawing/2014/main" id="{2C49B870-FE33-44C0-B386-15B7A06A38D0}"/>
              </a:ext>
            </a:extLst>
          </p:cNvPr>
          <p:cNvSpPr>
            <a:spLocks xmlns:a="http://schemas.openxmlformats.org/drawingml/2006/main" noGrp="1"/>
          </p:cNvSpPr>
          <p:nvPr/>
        </p:nvSpPr>
        <p:spPr>
          <a:xfrm xmlns:a="http://schemas.openxmlformats.org/drawingml/2006/main">
            <a:off x="8934450" y="408622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4756E"/>
                </a:solidFill>
                <a:latin typeface="Aptos"/>
                <a:ea typeface="Aptos"/>
                <a:cs typeface="Aptos"/>
              </a:defRPr>
            </a:pPr>
            <a:r>
              <a:rPr sz="1200" b="0">
                <a:solidFill>
                  <a:srgbClr val="64756E"/>
                </a:solidFill>
                <a:latin typeface="Aptos"/>
                <a:ea typeface="Aptos"/>
                <a:cs typeface="Aptos"/>
              </a:rPr>
              <a:t>Cho biết đã dùng kho, web hay cần xác minh.</a:t>
            </a:r>
          </a:p>
        </p:txBody>
      </p:sp>
      <p:sp>
        <p:nvSpPr>
          <p:cNvPr id="16" name="chat-item-num-3">
            <a:extLst xmlns:a="http://schemas.openxmlformats.org/drawingml/2006/main">
              <a:ext uri="{FF2B5EF4-FFF2-40B4-BE49-F238E27FC236}">
                <a16:creationId xmlns:a16="http://schemas.microsoft.com/office/drawing/2014/main" id="{73C1C0BF-69FE-4064-B752-15EB16379CDD}"/>
              </a:ext>
            </a:extLst>
          </p:cNvPr>
          <p:cNvSpPr>
            <a:spLocks xmlns:a="http://schemas.openxmlformats.org/drawingml/2006/main" noGrp="1"/>
          </p:cNvSpPr>
          <p:nvPr/>
        </p:nvSpPr>
        <p:spPr>
          <a:xfrm xmlns:a="http://schemas.openxmlformats.org/drawingml/2006/main">
            <a:off x="8439150" y="48196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0A7352"/>
                </a:solidFill>
                <a:latin typeface="Aptos"/>
                <a:ea typeface="Aptos"/>
                <a:cs typeface="Aptos"/>
              </a:defRPr>
            </a:pPr>
            <a:r>
              <a:rPr sz="1350" b="1">
                <a:solidFill>
                  <a:srgbClr val="0A7352"/>
                </a:solidFill>
                <a:latin typeface="Aptos"/>
                <a:ea typeface="Aptos"/>
                <a:cs typeface="Aptos"/>
              </a:rPr>
              <a:t>04</a:t>
            </a:r>
          </a:p>
        </p:txBody>
      </p:sp>
      <p:sp>
        <p:nvSpPr>
          <p:cNvPr id="17" name="chat-item-head-3">
            <a:extLst xmlns:a="http://schemas.openxmlformats.org/drawingml/2006/main">
              <a:ext uri="{FF2B5EF4-FFF2-40B4-BE49-F238E27FC236}">
                <a16:creationId xmlns:a16="http://schemas.microsoft.com/office/drawing/2014/main" id="{AF27DA2E-6FEC-4F7F-A644-6E45204A2225}"/>
              </a:ext>
            </a:extLst>
          </p:cNvPr>
          <p:cNvSpPr>
            <a:spLocks xmlns:a="http://schemas.openxmlformats.org/drawingml/2006/main" noGrp="1"/>
          </p:cNvSpPr>
          <p:nvPr/>
        </p:nvSpPr>
        <p:spPr>
          <a:xfrm xmlns:a="http://schemas.openxmlformats.org/drawingml/2006/main">
            <a:off x="8934450" y="48006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102A21"/>
                </a:solidFill>
                <a:latin typeface="Aptos Display"/>
                <a:ea typeface="Aptos Display"/>
                <a:cs typeface="Aptos Display"/>
              </a:defRPr>
            </a:pPr>
            <a:r>
              <a:rPr sz="1725" b="1">
                <a:solidFill>
                  <a:srgbClr val="102A21"/>
                </a:solidFill>
                <a:latin typeface="Aptos Display"/>
                <a:ea typeface="Aptos Display"/>
                <a:cs typeface="Aptos Display"/>
              </a:rPr>
              <a:t>Nguồn &amp; handoff</a:t>
            </a:r>
          </a:p>
        </p:txBody>
      </p:sp>
      <p:sp>
        <p:nvSpPr>
          <p:cNvPr id="18" name="chat-item-body-3">
            <a:extLst xmlns:a="http://schemas.openxmlformats.org/drawingml/2006/main">
              <a:ext uri="{FF2B5EF4-FFF2-40B4-BE49-F238E27FC236}">
                <a16:creationId xmlns:a16="http://schemas.microsoft.com/office/drawing/2014/main" id="{FED2E239-5149-4580-B092-AAE4D602DFAE}"/>
              </a:ext>
            </a:extLst>
          </p:cNvPr>
          <p:cNvSpPr>
            <a:spLocks xmlns:a="http://schemas.openxmlformats.org/drawingml/2006/main" noGrp="1"/>
          </p:cNvSpPr>
          <p:nvPr/>
        </p:nvSpPr>
        <p:spPr>
          <a:xfrm xmlns:a="http://schemas.openxmlformats.org/drawingml/2006/main">
            <a:off x="8934450" y="515302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4756E"/>
                </a:solidFill>
                <a:latin typeface="Aptos"/>
                <a:ea typeface="Aptos"/>
                <a:cs typeface="Aptos"/>
              </a:defRPr>
            </a:pPr>
            <a:r>
              <a:rPr sz="1200" b="0">
                <a:solidFill>
                  <a:srgbClr val="64756E"/>
                </a:solidFill>
                <a:latin typeface="Aptos"/>
                <a:ea typeface="Aptos"/>
                <a:cs typeface="Aptos"/>
              </a:rPr>
              <a:t>Nguồn nội bộ không lộ link; web chính thức có thể mở.</a:t>
            </a:r>
          </a:p>
        </p:txBody>
      </p:sp>
    </p:spTree>
    <p:extLst>
      <p:ext uri="{BB962C8B-B14F-4D97-AF65-F5344CB8AC3E}">
        <p14:creationId xmlns:p14="http://schemas.microsoft.com/office/powerpoint/2010/main" val="2032000611"/>
      </p:ext>
    </p:extLst>
  </p:cSld>
</p:sld>
</file>

<file path=ppt/slides/slide8.xml><?xml version="1.0" encoding="utf-8"?>
<p:sld xmlns:p="http://schemas.openxmlformats.org/presentationml/2006/main">
  <p:cSld>
    <p:bg>
      <p:bgPr>
        <a:solidFill xmlns:a="http://schemas.openxmlformats.org/drawingml/2006/main">
          <a:srgbClr val="07543E"/>
        </a:solidFill>
      </p:bgPr>
    </p:bg>
    <p:spTree>
      <p:nvGrpSpPr>
        <p:cNvPr id="1" name=""/>
        <p:cNvGrpSpPr/>
        <p:nvPr/>
      </p:nvGrpSpPr>
      <p:grpSpPr>
        <a:xfrm xmlns:a="http://schemas.openxmlformats.org/drawingml/2006/main"/>
      </p:grpSpPr>
      <p:sp>
        <p:nvSpPr>
          <p:cNvPr id="19" name="eyebrow-8">
            <a:extLst xmlns:a="http://schemas.openxmlformats.org/drawingml/2006/main">
              <a:ext uri="{FF2B5EF4-FFF2-40B4-BE49-F238E27FC236}">
                <a16:creationId xmlns:a16="http://schemas.microsoft.com/office/drawing/2014/main" id="{E5B60293-88FC-4435-AF13-B449F019CE66}"/>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F0B44D"/>
                </a:solidFill>
                <a:latin typeface="Aptos"/>
                <a:ea typeface="Aptos"/>
                <a:cs typeface="Aptos"/>
              </a:defRPr>
            </a:pPr>
            <a:r>
              <a:rPr sz="1050" b="1">
                <a:solidFill>
                  <a:srgbClr val="F0B44D"/>
                </a:solidFill>
                <a:latin typeface="Aptos"/>
                <a:ea typeface="Aptos"/>
                <a:cs typeface="Aptos"/>
              </a:rPr>
              <a:t>TRUST BY DESIGN</a:t>
            </a:r>
          </a:p>
        </p:txBody>
      </p:sp>
      <p:sp>
        <p:nvSpPr>
          <p:cNvPr id="2" name="title-8">
            <a:extLst xmlns:a="http://schemas.openxmlformats.org/drawingml/2006/main">
              <a:ext uri="{FF2B5EF4-FFF2-40B4-BE49-F238E27FC236}">
                <a16:creationId xmlns:a16="http://schemas.microsoft.com/office/drawing/2014/main" id="{9F613266-F1B4-4BCB-9A72-4AE0A63C5AE5}"/>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Hệ thống biết giới hạn của mình</a:t>
            </a:r>
          </a:p>
        </p:txBody>
      </p:sp>
      <p:sp>
        <p:nvSpPr>
          <p:cNvPr id="3" name="footer-8">
            <a:extLst xmlns:a="http://schemas.openxmlformats.org/drawingml/2006/main">
              <a:ext uri="{FF2B5EF4-FFF2-40B4-BE49-F238E27FC236}">
                <a16:creationId xmlns:a16="http://schemas.microsoft.com/office/drawing/2014/main" id="{989D9876-9A75-4E95-ADC6-47DF7A9DCAF9}"/>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A9C7BB"/>
                </a:solidFill>
                <a:latin typeface="Aptos"/>
                <a:ea typeface="Aptos"/>
                <a:cs typeface="Aptos"/>
              </a:defRPr>
            </a:pPr>
            <a:r>
              <a:rPr sz="825" b="1">
                <a:solidFill>
                  <a:srgbClr val="A9C7BB"/>
                </a:solidFill>
                <a:latin typeface="Aptos"/>
                <a:ea typeface="Aptos"/>
                <a:cs typeface="Aptos"/>
              </a:rPr>
              <a:t>AI THỰC CHIẾN  ·  NHỮNG CON VỊT BẦU</a:t>
            </a:r>
          </a:p>
        </p:txBody>
      </p:sp>
      <p:sp>
        <p:nvSpPr>
          <p:cNvPr id="4" name="page-8">
            <a:extLst xmlns:a="http://schemas.openxmlformats.org/drawingml/2006/main">
              <a:ext uri="{FF2B5EF4-FFF2-40B4-BE49-F238E27FC236}">
                <a16:creationId xmlns:a16="http://schemas.microsoft.com/office/drawing/2014/main" id="{3DCCC758-4636-4C06-BC6B-117B00FF7DD6}"/>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A9C7BB"/>
                </a:solidFill>
                <a:latin typeface="Aptos"/>
                <a:ea typeface="Aptos"/>
                <a:cs typeface="Aptos"/>
              </a:defRPr>
            </a:pPr>
            <a:r>
              <a:rPr sz="825" b="1">
                <a:solidFill>
                  <a:srgbClr val="A9C7BB"/>
                </a:solidFill>
                <a:latin typeface="Aptos"/>
                <a:ea typeface="Aptos"/>
                <a:cs typeface="Aptos"/>
              </a:rPr>
              <a:t>08</a:t>
            </a:r>
          </a:p>
        </p:txBody>
      </p:sp>
      <p:sp>
        <p:nvSpPr>
          <p:cNvPr id="5" name="trust-left-big">
            <a:extLst xmlns:a="http://schemas.openxmlformats.org/drawingml/2006/main">
              <a:ext uri="{FF2B5EF4-FFF2-40B4-BE49-F238E27FC236}">
                <a16:creationId xmlns:a16="http://schemas.microsoft.com/office/drawing/2014/main" id="{144D6F5B-FA7A-46AA-A88E-D680EDC9987A}"/>
              </a:ext>
            </a:extLst>
          </p:cNvPr>
          <p:cNvSpPr>
            <a:spLocks xmlns:a="http://schemas.openxmlformats.org/drawingml/2006/main" noGrp="1"/>
          </p:cNvSpPr>
          <p:nvPr/>
        </p:nvSpPr>
        <p:spPr>
          <a:xfrm xmlns:a="http://schemas.openxmlformats.org/drawingml/2006/main">
            <a:off x="609600" y="1733550"/>
            <a:ext cx="5048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75" b="1">
                <a:solidFill>
                  <a:srgbClr val="FFFFFF"/>
                </a:solidFill>
                <a:latin typeface="Aptos Display"/>
                <a:ea typeface="Aptos Display"/>
                <a:cs typeface="Aptos Display"/>
              </a:defRPr>
            </a:pPr>
            <a:r>
              <a:rPr sz="3375" b="1">
                <a:solidFill>
                  <a:srgbClr val="FFFFFF"/>
                </a:solidFill>
                <a:latin typeface="Aptos Display"/>
                <a:ea typeface="Aptos Display"/>
                <a:cs typeface="Aptos Display"/>
              </a:rPr>
              <a:t>Không đoán</a:t>
            </a:r>
          </a:p>
          <a:p xmlns:a="http://schemas.openxmlformats.org/drawingml/2006/main">
            <a:pPr algn="l">
              <a:defRPr sz="3375" b="1">
                <a:solidFill>
                  <a:srgbClr val="FFFFFF"/>
                </a:solidFill>
                <a:latin typeface="Aptos Display"/>
                <a:ea typeface="Aptos Display"/>
                <a:cs typeface="Aptos Display"/>
              </a:defRPr>
            </a:pPr>
            <a:r>
              <a:rPr sz="3375" b="1">
                <a:solidFill>
                  <a:srgbClr val="FFFFFF"/>
                </a:solidFill>
                <a:latin typeface="Aptos Display"/>
                <a:ea typeface="Aptos Display"/>
                <a:cs typeface="Aptos Display"/>
              </a:rPr>
              <a:t>thông tin nhạy cảm</a:t>
            </a:r>
          </a:p>
          <a:p xmlns:a="http://schemas.openxmlformats.org/drawingml/2006/main">
            <a:pPr algn="l">
              <a:defRPr sz="3375" b="1">
                <a:solidFill>
                  <a:srgbClr val="FFFFFF"/>
                </a:solidFill>
                <a:latin typeface="Aptos Display"/>
                <a:ea typeface="Aptos Display"/>
                <a:cs typeface="Aptos Display"/>
              </a:defRPr>
            </a:pPr>
            <a:r>
              <a:rPr sz="3375" b="1">
                <a:solidFill>
                  <a:srgbClr val="FFFFFF"/>
                </a:solidFill>
                <a:latin typeface="Aptos Display"/>
                <a:ea typeface="Aptos Display"/>
                <a:cs typeface="Aptos Display"/>
              </a:rPr>
              <a:t>theo thời gian.</a:t>
            </a:r>
          </a:p>
        </p:txBody>
      </p:sp>
      <p:sp>
        <p:nvSpPr>
          <p:cNvPr id="6" name="trust-left-small">
            <a:extLst xmlns:a="http://schemas.openxmlformats.org/drawingml/2006/main">
              <a:ext uri="{FF2B5EF4-FFF2-40B4-BE49-F238E27FC236}">
                <a16:creationId xmlns:a16="http://schemas.microsoft.com/office/drawing/2014/main" id="{988CC0C0-567F-451A-833D-FBE356AEDB8E}"/>
              </a:ext>
            </a:extLst>
          </p:cNvPr>
          <p:cNvSpPr>
            <a:spLocks xmlns:a="http://schemas.openxmlformats.org/drawingml/2006/main" noGrp="1"/>
          </p:cNvSpPr>
          <p:nvPr/>
        </p:nvSpPr>
        <p:spPr>
          <a:xfrm xmlns:a="http://schemas.openxmlformats.org/drawingml/2006/main">
            <a:off x="609600" y="39433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DCEDE6"/>
                </a:solidFill>
                <a:latin typeface="Aptos"/>
                <a:ea typeface="Aptos"/>
                <a:cs typeface="Aptos"/>
              </a:defRPr>
            </a:pPr>
            <a:r>
              <a:rPr sz="1650" b="0">
                <a:solidFill>
                  <a:srgbClr val="DCEDE6"/>
                </a:solidFill>
                <a:latin typeface="Aptos"/>
                <a:ea typeface="Aptos"/>
                <a:cs typeface="Aptos"/>
              </a:rPr>
              <a:t>Lịch học, deadline, học phí và chính sách chỉ được khẳng định khi có nguồn phù hợp; nếu không, hệ thống yêu cầu xác minh.</a:t>
            </a:r>
          </a:p>
        </p:txBody>
      </p:sp>
      <p:sp>
        <p:nvSpPr>
          <p:cNvPr id="7" name="trust-rule-0">
            <a:extLst xmlns:a="http://schemas.openxmlformats.org/drawingml/2006/main">
              <a:ext uri="{FF2B5EF4-FFF2-40B4-BE49-F238E27FC236}">
                <a16:creationId xmlns:a16="http://schemas.microsoft.com/office/drawing/2014/main" id="{049EE62A-A4D5-43EC-84E7-BE7BBB81427C}"/>
              </a:ext>
            </a:extLst>
          </p:cNvPr>
          <p:cNvSpPr>
            <a:spLocks xmlns:a="http://schemas.openxmlformats.org/drawingml/2006/main" noGrp="1"/>
          </p:cNvSpPr>
          <p:nvPr/>
        </p:nvSpPr>
        <p:spPr>
          <a:xfrm xmlns:a="http://schemas.openxmlformats.org/drawingml/2006/main">
            <a:off x="6343650" y="1704975"/>
            <a:ext cx="76200" cy="695325"/>
          </a:xfrm>
          <a:prstGeom xmlns:a="http://schemas.openxmlformats.org/drawingml/2006/main" prst="rect">
            <a:avLst/>
          </a:prstGeom>
          <a:solidFill xmlns:a="http://schemas.openxmlformats.org/drawingml/2006/main">
            <a:srgbClr val="7BB29B"/>
          </a:solidFill>
          <a:ln xmlns:a="http://schemas.openxmlformats.org/drawingml/2006/main" w="0">
            <a:noFill/>
            <a:prstDash val="solid"/>
          </a:ln>
        </p:spPr>
      </p:sp>
      <p:sp>
        <p:nvSpPr>
          <p:cNvPr id="8" name="trust-head-0">
            <a:extLst xmlns:a="http://schemas.openxmlformats.org/drawingml/2006/main">
              <a:ext uri="{FF2B5EF4-FFF2-40B4-BE49-F238E27FC236}">
                <a16:creationId xmlns:a16="http://schemas.microsoft.com/office/drawing/2014/main" id="{A27A6C88-B9C8-4C46-9537-0D6785D1FD94}"/>
              </a:ext>
            </a:extLst>
          </p:cNvPr>
          <p:cNvSpPr>
            <a:spLocks xmlns:a="http://schemas.openxmlformats.org/drawingml/2006/main" noGrp="1"/>
          </p:cNvSpPr>
          <p:nvPr/>
        </p:nvSpPr>
        <p:spPr>
          <a:xfrm xmlns:a="http://schemas.openxmlformats.org/drawingml/2006/main">
            <a:off x="6648450" y="16192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Nguồn sự thật</a:t>
            </a:r>
          </a:p>
        </p:txBody>
      </p:sp>
      <p:sp>
        <p:nvSpPr>
          <p:cNvPr id="9" name="trust-body-0">
            <a:extLst xmlns:a="http://schemas.openxmlformats.org/drawingml/2006/main">
              <a:ext uri="{FF2B5EF4-FFF2-40B4-BE49-F238E27FC236}">
                <a16:creationId xmlns:a16="http://schemas.microsoft.com/office/drawing/2014/main" id="{2C60261E-AF74-4A6A-A28B-D28E5C3C2478}"/>
              </a:ext>
            </a:extLst>
          </p:cNvPr>
          <p:cNvSpPr>
            <a:spLocks xmlns:a="http://schemas.openxmlformats.org/drawingml/2006/main" noGrp="1"/>
          </p:cNvSpPr>
          <p:nvPr/>
        </p:nvSpPr>
        <p:spPr>
          <a:xfrm xmlns:a="http://schemas.openxmlformats.org/drawingml/2006/main">
            <a:off x="6648450" y="197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DCEDE6"/>
                </a:solidFill>
                <a:latin typeface="Aptos"/>
                <a:ea typeface="Aptos"/>
                <a:cs typeface="Aptos"/>
              </a:defRPr>
            </a:pPr>
            <a:r>
              <a:rPr sz="1275" b="0">
                <a:solidFill>
                  <a:srgbClr val="DCEDE6"/>
                </a:solidFill>
                <a:latin typeface="Aptos"/>
                <a:ea typeface="Aptos"/>
                <a:cs typeface="Aptos"/>
              </a:rPr>
              <a:t>Ưu tiên tài liệu chương trình và website allowlist.</a:t>
            </a:r>
          </a:p>
        </p:txBody>
      </p:sp>
      <p:sp>
        <p:nvSpPr>
          <p:cNvPr id="10" name="trust-rule-1">
            <a:extLst xmlns:a="http://schemas.openxmlformats.org/drawingml/2006/main">
              <a:ext uri="{FF2B5EF4-FFF2-40B4-BE49-F238E27FC236}">
                <a16:creationId xmlns:a16="http://schemas.microsoft.com/office/drawing/2014/main" id="{BBB20A49-7696-4BDC-9935-E82D025F6627}"/>
              </a:ext>
            </a:extLst>
          </p:cNvPr>
          <p:cNvSpPr>
            <a:spLocks xmlns:a="http://schemas.openxmlformats.org/drawingml/2006/main" noGrp="1"/>
          </p:cNvSpPr>
          <p:nvPr/>
        </p:nvSpPr>
        <p:spPr>
          <a:xfrm xmlns:a="http://schemas.openxmlformats.org/drawingml/2006/main">
            <a:off x="6343650" y="2705100"/>
            <a:ext cx="76200" cy="695325"/>
          </a:xfrm>
          <a:prstGeom xmlns:a="http://schemas.openxmlformats.org/drawingml/2006/main" prst="rect">
            <a:avLst/>
          </a:prstGeom>
          <a:solidFill xmlns:a="http://schemas.openxmlformats.org/drawingml/2006/main">
            <a:srgbClr val="7BB29B"/>
          </a:solidFill>
          <a:ln xmlns:a="http://schemas.openxmlformats.org/drawingml/2006/main" w="0">
            <a:noFill/>
            <a:prstDash val="solid"/>
          </a:ln>
        </p:spPr>
      </p:sp>
      <p:sp>
        <p:nvSpPr>
          <p:cNvPr id="11" name="trust-head-1">
            <a:extLst xmlns:a="http://schemas.openxmlformats.org/drawingml/2006/main">
              <a:ext uri="{FF2B5EF4-FFF2-40B4-BE49-F238E27FC236}">
                <a16:creationId xmlns:a16="http://schemas.microsoft.com/office/drawing/2014/main" id="{7355E330-CA2B-449F-B817-9F8FF0B8FC56}"/>
              </a:ext>
            </a:extLst>
          </p:cNvPr>
          <p:cNvSpPr>
            <a:spLocks xmlns:a="http://schemas.openxmlformats.org/drawingml/2006/main" noGrp="1"/>
          </p:cNvSpPr>
          <p:nvPr/>
        </p:nvSpPr>
        <p:spPr>
          <a:xfrm xmlns:a="http://schemas.openxmlformats.org/drawingml/2006/main">
            <a:off x="6648450" y="26193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Mơ hồ</a:t>
            </a:r>
          </a:p>
        </p:txBody>
      </p:sp>
      <p:sp>
        <p:nvSpPr>
          <p:cNvPr id="12" name="trust-body-1">
            <a:extLst xmlns:a="http://schemas.openxmlformats.org/drawingml/2006/main">
              <a:ext uri="{FF2B5EF4-FFF2-40B4-BE49-F238E27FC236}">
                <a16:creationId xmlns:a16="http://schemas.microsoft.com/office/drawing/2014/main" id="{30375DE9-E577-423F-8C6B-9317036E5EA0}"/>
              </a:ext>
            </a:extLst>
          </p:cNvPr>
          <p:cNvSpPr>
            <a:spLocks xmlns:a="http://schemas.openxmlformats.org/drawingml/2006/main" noGrp="1"/>
          </p:cNvSpPr>
          <p:nvPr/>
        </p:nvSpPr>
        <p:spPr>
          <a:xfrm xmlns:a="http://schemas.openxmlformats.org/drawingml/2006/main">
            <a:off x="6648450" y="29718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DCEDE6"/>
                </a:solidFill>
                <a:latin typeface="Aptos"/>
                <a:ea typeface="Aptos"/>
                <a:cs typeface="Aptos"/>
              </a:defRPr>
            </a:pPr>
            <a:r>
              <a:rPr sz="1275" b="0">
                <a:solidFill>
                  <a:srgbClr val="DCEDE6"/>
                </a:solidFill>
                <a:latin typeface="Aptos"/>
                <a:ea typeface="Aptos"/>
                <a:cs typeface="Aptos"/>
              </a:rPr>
              <a:t>Hỏi lại cohort, ngày hoặc loại chính sách.</a:t>
            </a:r>
          </a:p>
        </p:txBody>
      </p:sp>
      <p:sp>
        <p:nvSpPr>
          <p:cNvPr id="13" name="trust-rule-2">
            <a:extLst xmlns:a="http://schemas.openxmlformats.org/drawingml/2006/main">
              <a:ext uri="{FF2B5EF4-FFF2-40B4-BE49-F238E27FC236}">
                <a16:creationId xmlns:a16="http://schemas.microsoft.com/office/drawing/2014/main" id="{101EB8EC-8E2A-4F12-A0FC-86A9464B37D7}"/>
              </a:ext>
            </a:extLst>
          </p:cNvPr>
          <p:cNvSpPr>
            <a:spLocks xmlns:a="http://schemas.openxmlformats.org/drawingml/2006/main" noGrp="1"/>
          </p:cNvSpPr>
          <p:nvPr/>
        </p:nvSpPr>
        <p:spPr>
          <a:xfrm xmlns:a="http://schemas.openxmlformats.org/drawingml/2006/main">
            <a:off x="6343650" y="3705225"/>
            <a:ext cx="76200" cy="695325"/>
          </a:xfrm>
          <a:prstGeom xmlns:a="http://schemas.openxmlformats.org/drawingml/2006/main" prst="rect">
            <a:avLst/>
          </a:prstGeom>
          <a:solidFill xmlns:a="http://schemas.openxmlformats.org/drawingml/2006/main">
            <a:srgbClr val="F0B44D"/>
          </a:solidFill>
          <a:ln xmlns:a="http://schemas.openxmlformats.org/drawingml/2006/main" w="0">
            <a:noFill/>
            <a:prstDash val="solid"/>
          </a:ln>
        </p:spPr>
      </p:sp>
      <p:sp>
        <p:nvSpPr>
          <p:cNvPr id="14" name="trust-head-2">
            <a:extLst xmlns:a="http://schemas.openxmlformats.org/drawingml/2006/main">
              <a:ext uri="{FF2B5EF4-FFF2-40B4-BE49-F238E27FC236}">
                <a16:creationId xmlns:a16="http://schemas.microsoft.com/office/drawing/2014/main" id="{2FAB01D0-9C5B-42E8-83EE-DB3A1D048CFB}"/>
              </a:ext>
            </a:extLst>
          </p:cNvPr>
          <p:cNvSpPr>
            <a:spLocks xmlns:a="http://schemas.openxmlformats.org/drawingml/2006/main" noGrp="1"/>
          </p:cNvSpPr>
          <p:nvPr/>
        </p:nvSpPr>
        <p:spPr>
          <a:xfrm xmlns:a="http://schemas.openxmlformats.org/drawingml/2006/main">
            <a:off x="6648450" y="36195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Thẩm quyền</a:t>
            </a:r>
          </a:p>
        </p:txBody>
      </p:sp>
      <p:sp>
        <p:nvSpPr>
          <p:cNvPr id="15" name="trust-body-2">
            <a:extLst xmlns:a="http://schemas.openxmlformats.org/drawingml/2006/main">
              <a:ext uri="{FF2B5EF4-FFF2-40B4-BE49-F238E27FC236}">
                <a16:creationId xmlns:a16="http://schemas.microsoft.com/office/drawing/2014/main" id="{068BC002-1329-47BD-B62D-D2A08C72B226}"/>
              </a:ext>
            </a:extLst>
          </p:cNvPr>
          <p:cNvSpPr>
            <a:spLocks xmlns:a="http://schemas.openxmlformats.org/drawingml/2006/main" noGrp="1"/>
          </p:cNvSpPr>
          <p:nvPr/>
        </p:nvSpPr>
        <p:spPr>
          <a:xfrm xmlns:a="http://schemas.openxmlformats.org/drawingml/2006/main">
            <a:off x="6648450" y="397192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DCEDE6"/>
                </a:solidFill>
                <a:latin typeface="Aptos"/>
                <a:ea typeface="Aptos"/>
                <a:cs typeface="Aptos"/>
              </a:defRPr>
            </a:pPr>
            <a:r>
              <a:rPr sz="1275" b="0">
                <a:solidFill>
                  <a:srgbClr val="DCEDE6"/>
                </a:solidFill>
                <a:latin typeface="Aptos"/>
                <a:ea typeface="Aptos"/>
                <a:cs typeface="Aptos"/>
              </a:rPr>
              <a:t>Không đổi lịch, hoàn tiền, điểm danh hay chấm điểm.</a:t>
            </a:r>
          </a:p>
        </p:txBody>
      </p:sp>
      <p:sp>
        <p:nvSpPr>
          <p:cNvPr id="16" name="trust-rule-3">
            <a:extLst xmlns:a="http://schemas.openxmlformats.org/drawingml/2006/main">
              <a:ext uri="{FF2B5EF4-FFF2-40B4-BE49-F238E27FC236}">
                <a16:creationId xmlns:a16="http://schemas.microsoft.com/office/drawing/2014/main" id="{5851525D-07E9-4F42-852A-1ECC177435B6}"/>
              </a:ext>
            </a:extLst>
          </p:cNvPr>
          <p:cNvSpPr>
            <a:spLocks xmlns:a="http://schemas.openxmlformats.org/drawingml/2006/main" noGrp="1"/>
          </p:cNvSpPr>
          <p:nvPr/>
        </p:nvSpPr>
        <p:spPr>
          <a:xfrm xmlns:a="http://schemas.openxmlformats.org/drawingml/2006/main">
            <a:off x="6343650" y="4705350"/>
            <a:ext cx="76200" cy="695325"/>
          </a:xfrm>
          <a:prstGeom xmlns:a="http://schemas.openxmlformats.org/drawingml/2006/main" prst="rect">
            <a:avLst/>
          </a:prstGeom>
          <a:solidFill xmlns:a="http://schemas.openxmlformats.org/drawingml/2006/main">
            <a:srgbClr val="7BB29B"/>
          </a:solidFill>
          <a:ln xmlns:a="http://schemas.openxmlformats.org/drawingml/2006/main" w="0">
            <a:noFill/>
            <a:prstDash val="solid"/>
          </a:ln>
        </p:spPr>
      </p:sp>
      <p:sp>
        <p:nvSpPr>
          <p:cNvPr id="17" name="trust-head-3">
            <a:extLst xmlns:a="http://schemas.openxmlformats.org/drawingml/2006/main">
              <a:ext uri="{FF2B5EF4-FFF2-40B4-BE49-F238E27FC236}">
                <a16:creationId xmlns:a16="http://schemas.microsoft.com/office/drawing/2014/main" id="{032C77D9-9D1B-4117-B693-EAF637704BB4}"/>
              </a:ext>
            </a:extLst>
          </p:cNvPr>
          <p:cNvSpPr>
            <a:spLocks xmlns:a="http://schemas.openxmlformats.org/drawingml/2006/main" noGrp="1"/>
          </p:cNvSpPr>
          <p:nvPr/>
        </p:nvSpPr>
        <p:spPr>
          <a:xfrm xmlns:a="http://schemas.openxmlformats.org/drawingml/2006/main">
            <a:off x="6648450" y="461962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Graceful failure</a:t>
            </a:r>
          </a:p>
        </p:txBody>
      </p:sp>
      <p:sp>
        <p:nvSpPr>
          <p:cNvPr id="18" name="trust-body-3">
            <a:extLst xmlns:a="http://schemas.openxmlformats.org/drawingml/2006/main">
              <a:ext uri="{FF2B5EF4-FFF2-40B4-BE49-F238E27FC236}">
                <a16:creationId xmlns:a16="http://schemas.microsoft.com/office/drawing/2014/main" id="{30A335A3-F739-4539-B23F-0F3B38BF6E15}"/>
              </a:ext>
            </a:extLst>
          </p:cNvPr>
          <p:cNvSpPr>
            <a:spLocks xmlns:a="http://schemas.openxmlformats.org/drawingml/2006/main" noGrp="1"/>
          </p:cNvSpPr>
          <p:nvPr/>
        </p:nvSpPr>
        <p:spPr>
          <a:xfrm xmlns:a="http://schemas.openxmlformats.org/drawingml/2006/main">
            <a:off x="6648450" y="49720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DCEDE6"/>
                </a:solidFill>
                <a:latin typeface="Aptos"/>
                <a:ea typeface="Aptos"/>
                <a:cs typeface="Aptos"/>
              </a:defRPr>
            </a:pPr>
            <a:r>
              <a:rPr sz="1275" b="0">
                <a:solidFill>
                  <a:srgbClr val="DCEDE6"/>
                </a:solidFill>
                <a:latin typeface="Aptos"/>
                <a:ea typeface="Aptos"/>
                <a:cs typeface="Aptos"/>
              </a:rPr>
              <a:t>Luôn đưa nguồn, mẫu câu hỏi hoặc người phụ trách.</a:t>
            </a:r>
          </a:p>
        </p:txBody>
      </p:sp>
    </p:spTree>
    <p:extLst>
      <p:ext uri="{BB962C8B-B14F-4D97-AF65-F5344CB8AC3E}">
        <p14:creationId xmlns:p14="http://schemas.microsoft.com/office/powerpoint/2010/main" val="748624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9">
            <a:extLst xmlns:a="http://schemas.openxmlformats.org/drawingml/2006/main">
              <a:ext uri="{FF2B5EF4-FFF2-40B4-BE49-F238E27FC236}">
                <a16:creationId xmlns:a16="http://schemas.microsoft.com/office/drawing/2014/main" id="{B6288841-C1D1-4C58-9AB3-1BF3553F1AB6}"/>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0A7352"/>
                </a:solidFill>
                <a:latin typeface="Aptos"/>
                <a:ea typeface="Aptos"/>
                <a:cs typeface="Aptos"/>
              </a:defRPr>
            </a:pPr>
            <a:r>
              <a:rPr sz="1050" b="1">
                <a:solidFill>
                  <a:srgbClr val="0A7352"/>
                </a:solidFill>
                <a:latin typeface="Aptos"/>
                <a:ea typeface="Aptos"/>
                <a:cs typeface="Aptos"/>
              </a:rPr>
              <a:t>CHẤT LƯỢNG</a:t>
            </a:r>
          </a:p>
        </p:txBody>
      </p:sp>
      <p:sp>
        <p:nvSpPr>
          <p:cNvPr id="2" name="title-9">
            <a:extLst xmlns:a="http://schemas.openxmlformats.org/drawingml/2006/main">
              <a:ext uri="{FF2B5EF4-FFF2-40B4-BE49-F238E27FC236}">
                <a16:creationId xmlns:a16="http://schemas.microsoft.com/office/drawing/2014/main" id="{5F310895-9335-45EC-9C95-FB71F7EFAC60}"/>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2A21"/>
                </a:solidFill>
                <a:latin typeface="Aptos Display"/>
                <a:ea typeface="Aptos Display"/>
                <a:cs typeface="Aptos Display"/>
              </a:defRPr>
            </a:pPr>
            <a:r>
              <a:rPr sz="3150" b="1">
                <a:solidFill>
                  <a:srgbClr val="102A21"/>
                </a:solidFill>
                <a:latin typeface="Aptos Display"/>
                <a:ea typeface="Aptos Display"/>
                <a:cs typeface="Aptos Display"/>
              </a:rPr>
              <a:t>Prototype được kiểm thử theo rủi ro, không theo cảm giác</a:t>
            </a:r>
          </a:p>
        </p:txBody>
      </p:sp>
      <p:sp>
        <p:nvSpPr>
          <p:cNvPr id="3" name="footer-9">
            <a:extLst xmlns:a="http://schemas.openxmlformats.org/drawingml/2006/main">
              <a:ext uri="{FF2B5EF4-FFF2-40B4-BE49-F238E27FC236}">
                <a16:creationId xmlns:a16="http://schemas.microsoft.com/office/drawing/2014/main" id="{F568CE5D-F523-4F78-B6E5-A665475E8DDF}"/>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64756E"/>
                </a:solidFill>
                <a:latin typeface="Aptos"/>
                <a:ea typeface="Aptos"/>
                <a:cs typeface="Aptos"/>
              </a:defRPr>
            </a:pPr>
            <a:r>
              <a:rPr sz="825" b="1">
                <a:solidFill>
                  <a:srgbClr val="64756E"/>
                </a:solidFill>
                <a:latin typeface="Aptos"/>
                <a:ea typeface="Aptos"/>
                <a:cs typeface="Aptos"/>
              </a:rPr>
              <a:t>AI THỰC CHIẾN  ·  NHỮNG CON VỊT BẦU</a:t>
            </a:r>
          </a:p>
        </p:txBody>
      </p:sp>
      <p:sp>
        <p:nvSpPr>
          <p:cNvPr id="4" name="page-9">
            <a:extLst xmlns:a="http://schemas.openxmlformats.org/drawingml/2006/main">
              <a:ext uri="{FF2B5EF4-FFF2-40B4-BE49-F238E27FC236}">
                <a16:creationId xmlns:a16="http://schemas.microsoft.com/office/drawing/2014/main" id="{3BAEC0EC-B92F-439C-920C-A12D0C50B1F9}"/>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64756E"/>
                </a:solidFill>
                <a:latin typeface="Aptos"/>
                <a:ea typeface="Aptos"/>
                <a:cs typeface="Aptos"/>
              </a:defRPr>
            </a:pPr>
            <a:r>
              <a:rPr sz="825" b="1">
                <a:solidFill>
                  <a:srgbClr val="64756E"/>
                </a:solidFill>
                <a:latin typeface="Aptos"/>
                <a:ea typeface="Aptos"/>
                <a:cs typeface="Aptos"/>
              </a:rPr>
              <a:t>09</a:t>
            </a:r>
          </a:p>
        </p:txBody>
      </p:sp>
      <p:sp>
        <p:nvSpPr>
          <p:cNvPr id="5" name="validation-intro">
            <a:extLst xmlns:a="http://schemas.openxmlformats.org/drawingml/2006/main">
              <a:ext uri="{FF2B5EF4-FFF2-40B4-BE49-F238E27FC236}">
                <a16:creationId xmlns:a16="http://schemas.microsoft.com/office/drawing/2014/main" id="{A88FD6B2-F825-43C6-A165-D0277EE5C022}"/>
              </a:ext>
            </a:extLst>
          </p:cNvPr>
          <p:cNvSpPr>
            <a:spLocks xmlns:a="http://schemas.openxmlformats.org/drawingml/2006/main" noGrp="1"/>
          </p:cNvSpPr>
          <p:nvPr/>
        </p:nvSpPr>
        <p:spPr>
          <a:xfrm xmlns:a="http://schemas.openxmlformats.org/drawingml/2006/main">
            <a:off x="609600" y="14859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64756E"/>
                </a:solidFill>
                <a:latin typeface="Aptos"/>
                <a:ea typeface="Aptos"/>
                <a:cs typeface="Aptos"/>
              </a:defRPr>
            </a:pPr>
            <a:r>
              <a:rPr sz="1725" b="0">
                <a:solidFill>
                  <a:srgbClr val="64756E"/>
                </a:solidFill>
                <a:latin typeface="Aptos"/>
                <a:ea typeface="Aptos"/>
                <a:cs typeface="Aptos"/>
              </a:rPr>
              <a:t>Quality bar ưu tiên lỗi gây hậu quả: nhầm deadline, nhầm cohort, citation sai và vượt thẩm quyền.</a:t>
            </a:r>
          </a:p>
        </p:txBody>
      </p:sp>
      <p:sp>
        <p:nvSpPr>
          <p:cNvPr id="6" name="validation-panel-0">
            <a:extLst xmlns:a="http://schemas.openxmlformats.org/drawingml/2006/main">
              <a:ext uri="{FF2B5EF4-FFF2-40B4-BE49-F238E27FC236}">
                <a16:creationId xmlns:a16="http://schemas.microsoft.com/office/drawing/2014/main" id="{4E65B3F4-A2DC-4FF8-8348-F622FD9C4E98}"/>
              </a:ext>
            </a:extLst>
          </p:cNvPr>
          <p:cNvSpPr>
            <a:spLocks xmlns:a="http://schemas.openxmlformats.org/drawingml/2006/main" noGrp="1"/>
          </p:cNvSpPr>
          <p:nvPr/>
        </p:nvSpPr>
        <p:spPr>
          <a:xfrm xmlns:a="http://schemas.openxmlformats.org/drawingml/2006/main">
            <a:off x="609600" y="2457450"/>
            <a:ext cx="3333750" cy="2571750"/>
          </a:xfrm>
          <a:prstGeom xmlns:a="http://schemas.openxmlformats.org/drawingml/2006/main" prst="roundRect">
            <a:avLst>
              <a:gd name="adj" fmla="val 4444"/>
            </a:avLst>
          </a:prstGeom>
          <a:solidFill xmlns:a="http://schemas.openxmlformats.org/drawingml/2006/main">
            <a:srgbClr val="EDF3F0"/>
          </a:solidFill>
          <a:ln xmlns:a="http://schemas.openxmlformats.org/drawingml/2006/main" w="0">
            <a:noFill/>
            <a:prstDash val="solid"/>
          </a:ln>
        </p:spPr>
      </p:sp>
      <p:sp>
        <p:nvSpPr>
          <p:cNvPr id="7" name="validation-num-0">
            <a:extLst xmlns:a="http://schemas.openxmlformats.org/drawingml/2006/main">
              <a:ext uri="{FF2B5EF4-FFF2-40B4-BE49-F238E27FC236}">
                <a16:creationId xmlns:a16="http://schemas.microsoft.com/office/drawing/2014/main" id="{8DA261EF-8BD4-4267-8EA4-6A89C2ABBE72}"/>
              </a:ext>
            </a:extLst>
          </p:cNvPr>
          <p:cNvSpPr>
            <a:spLocks xmlns:a="http://schemas.openxmlformats.org/drawingml/2006/main" noGrp="1"/>
          </p:cNvSpPr>
          <p:nvPr/>
        </p:nvSpPr>
        <p:spPr>
          <a:xfrm xmlns:a="http://schemas.openxmlformats.org/drawingml/2006/main">
            <a:off x="876300" y="27813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75"/>
          </a:bodyPr>
          <a:lstStyle xmlns:a="http://schemas.openxmlformats.org/drawingml/2006/main"/>
          <a:p xmlns:a="http://schemas.openxmlformats.org/drawingml/2006/main">
            <a:pPr algn="l">
              <a:defRPr sz="4575" b="1">
                <a:solidFill>
                  <a:srgbClr val="102A21"/>
                </a:solidFill>
                <a:latin typeface="Aptos Display"/>
                <a:ea typeface="Aptos Display"/>
                <a:cs typeface="Aptos Display"/>
              </a:defRPr>
            </a:pPr>
            <a:r>
              <a:rPr sz="4575" b="1">
                <a:solidFill>
                  <a:srgbClr val="102A21"/>
                </a:solidFill>
                <a:latin typeface="Aptos Display"/>
                <a:ea typeface="Aptos Display"/>
                <a:cs typeface="Aptos Display"/>
              </a:rPr>
              <a:t>24</a:t>
            </a:r>
          </a:p>
        </p:txBody>
      </p:sp>
      <p:sp>
        <p:nvSpPr>
          <p:cNvPr id="8" name="validation-label-0">
            <a:extLst xmlns:a="http://schemas.openxmlformats.org/drawingml/2006/main">
              <a:ext uri="{FF2B5EF4-FFF2-40B4-BE49-F238E27FC236}">
                <a16:creationId xmlns:a16="http://schemas.microsoft.com/office/drawing/2014/main" id="{B22D45B7-C7BB-4933-B45D-A2C30BF374F6}"/>
              </a:ext>
            </a:extLst>
          </p:cNvPr>
          <p:cNvSpPr>
            <a:spLocks xmlns:a="http://schemas.openxmlformats.org/drawingml/2006/main" noGrp="1"/>
          </p:cNvSpPr>
          <p:nvPr/>
        </p:nvSpPr>
        <p:spPr>
          <a:xfrm xmlns:a="http://schemas.openxmlformats.org/drawingml/2006/main">
            <a:off x="876300" y="364807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defRPr sz="1875" b="1">
                <a:solidFill>
                  <a:srgbClr val="102A21"/>
                </a:solidFill>
                <a:latin typeface="Aptos Display"/>
                <a:ea typeface="Aptos Display"/>
                <a:cs typeface="Aptos Display"/>
              </a:defRPr>
            </a:pPr>
            <a:r>
              <a:rPr sz="1875" b="1">
                <a:solidFill>
                  <a:srgbClr val="102A21"/>
                </a:solidFill>
                <a:latin typeface="Aptos Display"/>
                <a:ea typeface="Aptos Display"/>
                <a:cs typeface="Aptos Display"/>
              </a:rPr>
              <a:t>golden cases</a:t>
            </a:r>
          </a:p>
        </p:txBody>
      </p:sp>
      <p:sp>
        <p:nvSpPr>
          <p:cNvPr id="9" name="validation-detail-0">
            <a:extLst xmlns:a="http://schemas.openxmlformats.org/drawingml/2006/main">
              <a:ext uri="{FF2B5EF4-FFF2-40B4-BE49-F238E27FC236}">
                <a16:creationId xmlns:a16="http://schemas.microsoft.com/office/drawing/2014/main" id="{BF421A51-ABFF-48CE-A698-6251AE14D492}"/>
              </a:ext>
            </a:extLst>
          </p:cNvPr>
          <p:cNvSpPr>
            <a:spLocks xmlns:a="http://schemas.openxmlformats.org/drawingml/2006/main" noGrp="1"/>
          </p:cNvSpPr>
          <p:nvPr/>
        </p:nvSpPr>
        <p:spPr>
          <a:xfrm xmlns:a="http://schemas.openxmlformats.org/drawingml/2006/main">
            <a:off x="876300" y="4171950"/>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56E"/>
                </a:solidFill>
                <a:latin typeface="Aptos"/>
                <a:ea typeface="Aptos"/>
                <a:cs typeface="Aptos"/>
              </a:defRPr>
            </a:pPr>
            <a:r>
              <a:rPr sz="1275" b="0">
                <a:solidFill>
                  <a:srgbClr val="64756E"/>
                </a:solidFill>
                <a:latin typeface="Aptos"/>
                <a:ea typeface="Aptos"/>
                <a:cs typeface="Aptos"/>
              </a:rPr>
              <a:t>7 nhóm tình huống</a:t>
            </a:r>
          </a:p>
          <a:p xmlns:a="http://schemas.openxmlformats.org/drawingml/2006/main">
            <a:pPr algn="l">
              <a:defRPr sz="1275" b="0">
                <a:solidFill>
                  <a:srgbClr val="64756E"/>
                </a:solidFill>
                <a:latin typeface="Aptos"/>
                <a:ea typeface="Aptos"/>
                <a:cs typeface="Aptos"/>
              </a:defRPr>
            </a:pPr>
            <a:r>
              <a:rPr sz="1275" b="0">
                <a:solidFill>
                  <a:srgbClr val="64756E"/>
                </a:solidFill>
                <a:latin typeface="Aptos"/>
                <a:ea typeface="Aptos"/>
                <a:cs typeface="Aptos"/>
              </a:rPr>
              <a:t>bao gồm correction</a:t>
            </a:r>
          </a:p>
        </p:txBody>
      </p:sp>
      <p:sp>
        <p:nvSpPr>
          <p:cNvPr id="10" name="validation-panel-1">
            <a:extLst xmlns:a="http://schemas.openxmlformats.org/drawingml/2006/main">
              <a:ext uri="{FF2B5EF4-FFF2-40B4-BE49-F238E27FC236}">
                <a16:creationId xmlns:a16="http://schemas.microsoft.com/office/drawing/2014/main" id="{AD4C1BAB-F5B4-4933-B03F-2D382605845C}"/>
              </a:ext>
            </a:extLst>
          </p:cNvPr>
          <p:cNvSpPr>
            <a:spLocks xmlns:a="http://schemas.openxmlformats.org/drawingml/2006/main" noGrp="1"/>
          </p:cNvSpPr>
          <p:nvPr/>
        </p:nvSpPr>
        <p:spPr>
          <a:xfrm xmlns:a="http://schemas.openxmlformats.org/drawingml/2006/main">
            <a:off x="4362450" y="2457450"/>
            <a:ext cx="3333750" cy="2571750"/>
          </a:xfrm>
          <a:prstGeom xmlns:a="http://schemas.openxmlformats.org/drawingml/2006/main" prst="roundRect">
            <a:avLst>
              <a:gd name="adj" fmla="val 4444"/>
            </a:avLst>
          </a:prstGeom>
          <a:solidFill xmlns:a="http://schemas.openxmlformats.org/drawingml/2006/main">
            <a:srgbClr val="DFF4E9"/>
          </a:solidFill>
          <a:ln xmlns:a="http://schemas.openxmlformats.org/drawingml/2006/main" w="0">
            <a:noFill/>
            <a:prstDash val="solid"/>
          </a:ln>
        </p:spPr>
      </p:sp>
      <p:sp>
        <p:nvSpPr>
          <p:cNvPr id="11" name="validation-num-1">
            <a:extLst xmlns:a="http://schemas.openxmlformats.org/drawingml/2006/main">
              <a:ext uri="{FF2B5EF4-FFF2-40B4-BE49-F238E27FC236}">
                <a16:creationId xmlns:a16="http://schemas.microsoft.com/office/drawing/2014/main" id="{71614D0C-D98A-4D0E-BFD5-C399D6B3C0B5}"/>
              </a:ext>
            </a:extLst>
          </p:cNvPr>
          <p:cNvSpPr>
            <a:spLocks xmlns:a="http://schemas.openxmlformats.org/drawingml/2006/main" noGrp="1"/>
          </p:cNvSpPr>
          <p:nvPr/>
        </p:nvSpPr>
        <p:spPr>
          <a:xfrm xmlns:a="http://schemas.openxmlformats.org/drawingml/2006/main">
            <a:off x="4629150" y="27813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75"/>
          </a:bodyPr>
          <a:lstStyle xmlns:a="http://schemas.openxmlformats.org/drawingml/2006/main"/>
          <a:p xmlns:a="http://schemas.openxmlformats.org/drawingml/2006/main">
            <a:pPr algn="l">
              <a:defRPr sz="4575" b="1">
                <a:solidFill>
                  <a:srgbClr val="0A7352"/>
                </a:solidFill>
                <a:latin typeface="Aptos Display"/>
                <a:ea typeface="Aptos Display"/>
                <a:cs typeface="Aptos Display"/>
              </a:defRPr>
            </a:pPr>
            <a:r>
              <a:rPr sz="4575" b="1">
                <a:solidFill>
                  <a:srgbClr val="0A7352"/>
                </a:solidFill>
                <a:latin typeface="Aptos Display"/>
                <a:ea typeface="Aptos Display"/>
                <a:cs typeface="Aptos Display"/>
              </a:rPr>
              <a:t>4/4</a:t>
            </a:r>
          </a:p>
        </p:txBody>
      </p:sp>
      <p:sp>
        <p:nvSpPr>
          <p:cNvPr id="12" name="validation-label-1">
            <a:extLst xmlns:a="http://schemas.openxmlformats.org/drawingml/2006/main">
              <a:ext uri="{FF2B5EF4-FFF2-40B4-BE49-F238E27FC236}">
                <a16:creationId xmlns:a16="http://schemas.microsoft.com/office/drawing/2014/main" id="{07C273FF-8A7B-41D9-9332-B3F0CF1E2B1A}"/>
              </a:ext>
            </a:extLst>
          </p:cNvPr>
          <p:cNvSpPr>
            <a:spLocks xmlns:a="http://schemas.openxmlformats.org/drawingml/2006/main" noGrp="1"/>
          </p:cNvSpPr>
          <p:nvPr/>
        </p:nvSpPr>
        <p:spPr>
          <a:xfrm xmlns:a="http://schemas.openxmlformats.org/drawingml/2006/main">
            <a:off x="4629150" y="364807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defRPr sz="1875" b="1">
                <a:solidFill>
                  <a:srgbClr val="102A21"/>
                </a:solidFill>
                <a:latin typeface="Aptos Display"/>
                <a:ea typeface="Aptos Display"/>
                <a:cs typeface="Aptos Display"/>
              </a:defRPr>
            </a:pPr>
            <a:r>
              <a:rPr sz="1875" b="1">
                <a:solidFill>
                  <a:srgbClr val="102A21"/>
                </a:solidFill>
                <a:latin typeface="Aptos Display"/>
                <a:ea typeface="Aptos Display"/>
                <a:cs typeface="Aptos Display"/>
              </a:rPr>
              <a:t>automated tests</a:t>
            </a:r>
          </a:p>
        </p:txBody>
      </p:sp>
      <p:sp>
        <p:nvSpPr>
          <p:cNvPr id="13" name="validation-detail-1">
            <a:extLst xmlns:a="http://schemas.openxmlformats.org/drawingml/2006/main">
              <a:ext uri="{FF2B5EF4-FFF2-40B4-BE49-F238E27FC236}">
                <a16:creationId xmlns:a16="http://schemas.microsoft.com/office/drawing/2014/main" id="{D89F773E-6877-442B-96EC-66CF44FBD973}"/>
              </a:ext>
            </a:extLst>
          </p:cNvPr>
          <p:cNvSpPr>
            <a:spLocks xmlns:a="http://schemas.openxmlformats.org/drawingml/2006/main" noGrp="1"/>
          </p:cNvSpPr>
          <p:nvPr/>
        </p:nvSpPr>
        <p:spPr>
          <a:xfrm xmlns:a="http://schemas.openxmlformats.org/drawingml/2006/main">
            <a:off x="4629150" y="4171950"/>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56E"/>
                </a:solidFill>
                <a:latin typeface="Aptos"/>
                <a:ea typeface="Aptos"/>
                <a:cs typeface="Aptos"/>
              </a:defRPr>
            </a:pPr>
            <a:r>
              <a:rPr sz="1275" b="0">
                <a:solidFill>
                  <a:srgbClr val="64756E"/>
                </a:solidFill>
                <a:latin typeface="Aptos"/>
                <a:ea typeface="Aptos"/>
                <a:cs typeface="Aptos"/>
              </a:rPr>
              <a:t>build · SSR · API</a:t>
            </a:r>
          </a:p>
          <a:p xmlns:a="http://schemas.openxmlformats.org/drawingml/2006/main">
            <a:pPr algn="l">
              <a:defRPr sz="1275" b="0">
                <a:solidFill>
                  <a:srgbClr val="64756E"/>
                </a:solidFill>
                <a:latin typeface="Aptos"/>
                <a:ea typeface="Aptos"/>
                <a:cs typeface="Aptos"/>
              </a:defRPr>
            </a:pPr>
            <a:r>
              <a:rPr sz="1275" b="0">
                <a:solidFill>
                  <a:srgbClr val="64756E"/>
                </a:solidFill>
                <a:latin typeface="Aptos"/>
                <a:ea typeface="Aptos"/>
                <a:cs typeface="Aptos"/>
              </a:rPr>
              <a:t>· source privacy</a:t>
            </a:r>
          </a:p>
        </p:txBody>
      </p:sp>
      <p:sp>
        <p:nvSpPr>
          <p:cNvPr id="14" name="validation-panel-2">
            <a:extLst xmlns:a="http://schemas.openxmlformats.org/drawingml/2006/main">
              <a:ext uri="{FF2B5EF4-FFF2-40B4-BE49-F238E27FC236}">
                <a16:creationId xmlns:a16="http://schemas.microsoft.com/office/drawing/2014/main" id="{30CE9E63-7C03-477B-9A0B-C710661DC2BA}"/>
              </a:ext>
            </a:extLst>
          </p:cNvPr>
          <p:cNvSpPr>
            <a:spLocks xmlns:a="http://schemas.openxmlformats.org/drawingml/2006/main" noGrp="1"/>
          </p:cNvSpPr>
          <p:nvPr/>
        </p:nvSpPr>
        <p:spPr>
          <a:xfrm xmlns:a="http://schemas.openxmlformats.org/drawingml/2006/main">
            <a:off x="8115300" y="2457450"/>
            <a:ext cx="3333750" cy="2571750"/>
          </a:xfrm>
          <a:prstGeom xmlns:a="http://schemas.openxmlformats.org/drawingml/2006/main" prst="roundRect">
            <a:avLst>
              <a:gd name="adj" fmla="val 4444"/>
            </a:avLst>
          </a:prstGeom>
          <a:solidFill xmlns:a="http://schemas.openxmlformats.org/drawingml/2006/main">
            <a:srgbClr val="EDF3F0"/>
          </a:solidFill>
          <a:ln xmlns:a="http://schemas.openxmlformats.org/drawingml/2006/main" w="0">
            <a:noFill/>
            <a:prstDash val="solid"/>
          </a:ln>
        </p:spPr>
      </p:sp>
      <p:sp>
        <p:nvSpPr>
          <p:cNvPr id="15" name="validation-num-2">
            <a:extLst xmlns:a="http://schemas.openxmlformats.org/drawingml/2006/main">
              <a:ext uri="{FF2B5EF4-FFF2-40B4-BE49-F238E27FC236}">
                <a16:creationId xmlns:a16="http://schemas.microsoft.com/office/drawing/2014/main" id="{CFD2172A-0441-42A8-ABA2-C51B9E9FD2D4}"/>
              </a:ext>
            </a:extLst>
          </p:cNvPr>
          <p:cNvSpPr>
            <a:spLocks xmlns:a="http://schemas.openxmlformats.org/drawingml/2006/main" noGrp="1"/>
          </p:cNvSpPr>
          <p:nvPr/>
        </p:nvSpPr>
        <p:spPr>
          <a:xfrm xmlns:a="http://schemas.openxmlformats.org/drawingml/2006/main">
            <a:off x="8382000" y="27813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75"/>
          </a:bodyPr>
          <a:lstStyle xmlns:a="http://schemas.openxmlformats.org/drawingml/2006/main"/>
          <a:p xmlns:a="http://schemas.openxmlformats.org/drawingml/2006/main">
            <a:pPr algn="l">
              <a:defRPr sz="4575" b="1">
                <a:solidFill>
                  <a:srgbClr val="102A21"/>
                </a:solidFill>
                <a:latin typeface="Aptos Display"/>
                <a:ea typeface="Aptos Display"/>
                <a:cs typeface="Aptos Display"/>
              </a:defRPr>
            </a:pPr>
            <a:r>
              <a:rPr sz="4575" b="1">
                <a:solidFill>
                  <a:srgbClr val="102A21"/>
                </a:solidFill>
                <a:latin typeface="Aptos Display"/>
                <a:ea typeface="Aptos Display"/>
                <a:cs typeface="Aptos Display"/>
              </a:rPr>
              <a:t>100%</a:t>
            </a:r>
          </a:p>
        </p:txBody>
      </p:sp>
      <p:sp>
        <p:nvSpPr>
          <p:cNvPr id="16" name="validation-label-2">
            <a:extLst xmlns:a="http://schemas.openxmlformats.org/drawingml/2006/main">
              <a:ext uri="{FF2B5EF4-FFF2-40B4-BE49-F238E27FC236}">
                <a16:creationId xmlns:a16="http://schemas.microsoft.com/office/drawing/2014/main" id="{E694F047-224D-45EE-8AE2-1479A0FB2210}"/>
              </a:ext>
            </a:extLst>
          </p:cNvPr>
          <p:cNvSpPr>
            <a:spLocks xmlns:a="http://schemas.openxmlformats.org/drawingml/2006/main" noGrp="1"/>
          </p:cNvSpPr>
          <p:nvPr/>
        </p:nvSpPr>
        <p:spPr>
          <a:xfrm xmlns:a="http://schemas.openxmlformats.org/drawingml/2006/main">
            <a:off x="8382000" y="364807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defRPr sz="1875" b="1">
                <a:solidFill>
                  <a:srgbClr val="102A21"/>
                </a:solidFill>
                <a:latin typeface="Aptos Display"/>
                <a:ea typeface="Aptos Display"/>
                <a:cs typeface="Aptos Display"/>
              </a:defRPr>
            </a:pPr>
            <a:r>
              <a:rPr sz="1875" b="1">
                <a:solidFill>
                  <a:srgbClr val="102A21"/>
                </a:solidFill>
                <a:latin typeface="Aptos Display"/>
                <a:ea typeface="Aptos Display"/>
                <a:cs typeface="Aptos Display"/>
              </a:rPr>
              <a:t>high-severity target</a:t>
            </a:r>
          </a:p>
        </p:txBody>
      </p:sp>
      <p:sp>
        <p:nvSpPr>
          <p:cNvPr id="17" name="validation-detail-2">
            <a:extLst xmlns:a="http://schemas.openxmlformats.org/drawingml/2006/main">
              <a:ext uri="{FF2B5EF4-FFF2-40B4-BE49-F238E27FC236}">
                <a16:creationId xmlns:a16="http://schemas.microsoft.com/office/drawing/2014/main" id="{CDE4F049-5D44-448B-AA63-C0E0631C42A6}"/>
              </a:ext>
            </a:extLst>
          </p:cNvPr>
          <p:cNvSpPr>
            <a:spLocks xmlns:a="http://schemas.openxmlformats.org/drawingml/2006/main" noGrp="1"/>
          </p:cNvSpPr>
          <p:nvPr/>
        </p:nvSpPr>
        <p:spPr>
          <a:xfrm xmlns:a="http://schemas.openxmlformats.org/drawingml/2006/main">
            <a:off x="8382000" y="4171950"/>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56E"/>
                </a:solidFill>
                <a:latin typeface="Aptos"/>
                <a:ea typeface="Aptos"/>
                <a:cs typeface="Aptos"/>
              </a:defRPr>
            </a:pPr>
            <a:r>
              <a:rPr sz="1275" b="0">
                <a:solidFill>
                  <a:srgbClr val="64756E"/>
                </a:solidFill>
                <a:latin typeface="Aptos"/>
                <a:ea typeface="Aptos"/>
                <a:cs typeface="Aptos"/>
              </a:rPr>
              <a:t>không trả lời thiếu căn cứ</a:t>
            </a:r>
          </a:p>
          <a:p xmlns:a="http://schemas.openxmlformats.org/drawingml/2006/main">
            <a:pPr algn="l">
              <a:defRPr sz="1275" b="0">
                <a:solidFill>
                  <a:srgbClr val="64756E"/>
                </a:solidFill>
                <a:latin typeface="Aptos"/>
                <a:ea typeface="Aptos"/>
                <a:cs typeface="Aptos"/>
              </a:defRPr>
            </a:pPr>
            <a:r>
              <a:rPr sz="1275" b="0">
                <a:solidFill>
                  <a:srgbClr val="64756E"/>
                </a:solidFill>
                <a:latin typeface="Aptos"/>
                <a:ea typeface="Aptos"/>
                <a:cs typeface="Aptos"/>
              </a:rPr>
              <a:t>hoặc vượt thẩm quyền</a:t>
            </a:r>
          </a:p>
        </p:txBody>
      </p:sp>
      <p:sp>
        <p:nvSpPr>
          <p:cNvPr id="18" name="validation-disclaimer">
            <a:extLst xmlns:a="http://schemas.openxmlformats.org/drawingml/2006/main">
              <a:ext uri="{FF2B5EF4-FFF2-40B4-BE49-F238E27FC236}">
                <a16:creationId xmlns:a16="http://schemas.microsoft.com/office/drawing/2014/main" id="{A43E27D1-87E3-415B-A536-317610A584E6}"/>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A44234"/>
                </a:solidFill>
                <a:latin typeface="Aptos"/>
                <a:ea typeface="Aptos"/>
                <a:cs typeface="Aptos"/>
              </a:defRPr>
            </a:pPr>
            <a:r>
              <a:rPr sz="1350" b="1">
                <a:solidFill>
                  <a:srgbClr val="A44234"/>
                </a:solidFill>
                <a:latin typeface="Aptos"/>
                <a:ea typeface="Aptos"/>
                <a:cs typeface="Aptos"/>
              </a:rPr>
              <a:t>Chưa tuyên bố đạt quality bar 85% cho golden set cho tới khi chạy và ghi log đầy đủ.</a:t>
            </a:r>
          </a:p>
        </p:txBody>
      </p:sp>
    </p:spTree>
    <p:extLst>
      <p:ext uri="{BB962C8B-B14F-4D97-AF65-F5344CB8AC3E}">
        <p14:creationId xmlns:p14="http://schemas.microsoft.com/office/powerpoint/2010/main" val="305324175"/>
      </p:ext>
    </p:extLst>
  </p:cSld>
</p:sld>
</file>

<file path=ppt/slides/slide10.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18" name="eyebrow-10">
            <a:extLst xmlns:a="http://schemas.openxmlformats.org/drawingml/2006/main">
              <a:ext uri="{FF2B5EF4-FFF2-40B4-BE49-F238E27FC236}">
                <a16:creationId xmlns:a16="http://schemas.microsoft.com/office/drawing/2014/main" id="{E17B934E-A9B8-4F94-943A-C75DA73E577F}"/>
              </a:ext>
            </a:extLst>
          </p:cNvPr>
          <p:cNvSpPr>
            <a:spLocks xmlns:a="http://schemas.openxmlformats.org/drawingml/2006/main" noGrp="1"/>
          </p:cNvSpPr>
          <p:nvPr/>
        </p:nvSpPr>
        <p:spPr>
          <a:xfrm xmlns:a="http://schemas.openxmlformats.org/drawingml/2006/main">
            <a:off x="609600" y="428625"/>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1">
                <a:solidFill>
                  <a:srgbClr val="F0B44D"/>
                </a:solidFill>
                <a:latin typeface="Aptos"/>
                <a:ea typeface="Aptos"/>
                <a:cs typeface="Aptos"/>
              </a:defRPr>
            </a:pPr>
            <a:r>
              <a:rPr sz="1050" b="1">
                <a:solidFill>
                  <a:srgbClr val="F0B44D"/>
                </a:solidFill>
                <a:latin typeface="Aptos"/>
                <a:ea typeface="Aptos"/>
                <a:cs typeface="Aptos"/>
              </a:rPr>
              <a:t>LIVE DEMO</a:t>
            </a:r>
          </a:p>
        </p:txBody>
      </p:sp>
      <p:sp>
        <p:nvSpPr>
          <p:cNvPr id="2" name="title-10">
            <a:extLst xmlns:a="http://schemas.openxmlformats.org/drawingml/2006/main">
              <a:ext uri="{FF2B5EF4-FFF2-40B4-BE49-F238E27FC236}">
                <a16:creationId xmlns:a16="http://schemas.microsoft.com/office/drawing/2014/main" id="{A64A5EFB-E2CB-4CD6-9F9F-6968D5F336B1}"/>
              </a:ext>
            </a:extLst>
          </p:cNvPr>
          <p:cNvSpPr>
            <a:spLocks xmlns:a="http://schemas.openxmlformats.org/drawingml/2006/main" noGrp="1"/>
          </p:cNvSpPr>
          <p:nvPr/>
        </p:nvSpPr>
        <p:spPr>
          <a:xfrm xmlns:a="http://schemas.openxmlformats.org/drawingml/2006/main">
            <a:off x="609600" y="752475"/>
            <a:ext cx="10810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Ba câu hỏi để thấy toàn bộ sản phẩm</a:t>
            </a:r>
          </a:p>
        </p:txBody>
      </p:sp>
      <p:sp>
        <p:nvSpPr>
          <p:cNvPr id="3" name="footer-10">
            <a:extLst xmlns:a="http://schemas.openxmlformats.org/drawingml/2006/main">
              <a:ext uri="{FF2B5EF4-FFF2-40B4-BE49-F238E27FC236}">
                <a16:creationId xmlns:a16="http://schemas.microsoft.com/office/drawing/2014/main" id="{F53581C8-C2FB-4767-802D-1068E698805E}"/>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1">
                <a:solidFill>
                  <a:srgbClr val="A9C7BB"/>
                </a:solidFill>
                <a:latin typeface="Aptos"/>
                <a:ea typeface="Aptos"/>
                <a:cs typeface="Aptos"/>
              </a:defRPr>
            </a:pPr>
            <a:r>
              <a:rPr sz="825" b="1">
                <a:solidFill>
                  <a:srgbClr val="A9C7BB"/>
                </a:solidFill>
                <a:latin typeface="Aptos"/>
                <a:ea typeface="Aptos"/>
                <a:cs typeface="Aptos"/>
              </a:rPr>
              <a:t>AI THỰC CHIẾN  ·  NHỮNG CON VỊT BẦU</a:t>
            </a:r>
          </a:p>
        </p:txBody>
      </p:sp>
      <p:sp>
        <p:nvSpPr>
          <p:cNvPr id="4" name="page-10">
            <a:extLst xmlns:a="http://schemas.openxmlformats.org/drawingml/2006/main">
              <a:ext uri="{FF2B5EF4-FFF2-40B4-BE49-F238E27FC236}">
                <a16:creationId xmlns:a16="http://schemas.microsoft.com/office/drawing/2014/main" id="{BC82B82E-ADA1-4E9C-8BEE-7C20DAADFF56}"/>
              </a:ext>
            </a:extLst>
          </p:cNvPr>
          <p:cNvSpPr>
            <a:spLocks xmlns:a="http://schemas.openxmlformats.org/drawingml/2006/main" noGrp="1"/>
          </p:cNvSpPr>
          <p:nvPr/>
        </p:nvSpPr>
        <p:spPr>
          <a:xfrm xmlns:a="http://schemas.openxmlformats.org/drawingml/2006/main">
            <a:off x="1127760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1">
                <a:solidFill>
                  <a:srgbClr val="A9C7BB"/>
                </a:solidFill>
                <a:latin typeface="Aptos"/>
                <a:ea typeface="Aptos"/>
                <a:cs typeface="Aptos"/>
              </a:defRPr>
            </a:pPr>
            <a:r>
              <a:rPr sz="825" b="1">
                <a:solidFill>
                  <a:srgbClr val="A9C7BB"/>
                </a:solidFill>
                <a:latin typeface="Aptos"/>
                <a:ea typeface="Aptos"/>
                <a:cs typeface="Aptos"/>
              </a:rPr>
              <a:t>10</a:t>
            </a:r>
          </a:p>
        </p:txBody>
      </p:sp>
      <p:sp>
        <p:nvSpPr>
          <p:cNvPr id="5" name="demo-num-0">
            <a:extLst xmlns:a="http://schemas.openxmlformats.org/drawingml/2006/main">
              <a:ext uri="{FF2B5EF4-FFF2-40B4-BE49-F238E27FC236}">
                <a16:creationId xmlns:a16="http://schemas.microsoft.com/office/drawing/2014/main" id="{738CDD60-7DCA-4C39-A66C-6ED8E588E053}"/>
              </a:ext>
            </a:extLst>
          </p:cNvPr>
          <p:cNvSpPr>
            <a:spLocks xmlns:a="http://schemas.openxmlformats.org/drawingml/2006/main" noGrp="1"/>
          </p:cNvSpPr>
          <p:nvPr/>
        </p:nvSpPr>
        <p:spPr>
          <a:xfrm xmlns:a="http://schemas.openxmlformats.org/drawingml/2006/main">
            <a:off x="647700" y="165735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625" b="1">
                <a:solidFill>
                  <a:srgbClr val="F0B44D"/>
                </a:solidFill>
                <a:latin typeface="Aptos Display"/>
                <a:ea typeface="Aptos Display"/>
                <a:cs typeface="Aptos Display"/>
              </a:defRPr>
            </a:pPr>
            <a:r>
              <a:rPr sz="2625" b="1">
                <a:solidFill>
                  <a:srgbClr val="F0B44D"/>
                </a:solidFill>
                <a:latin typeface="Aptos Display"/>
                <a:ea typeface="Aptos Display"/>
                <a:cs typeface="Aptos Display"/>
              </a:rPr>
              <a:t>01</a:t>
            </a:r>
          </a:p>
        </p:txBody>
      </p:sp>
      <p:sp>
        <p:nvSpPr>
          <p:cNvPr id="6" name="demo-q-0">
            <a:extLst xmlns:a="http://schemas.openxmlformats.org/drawingml/2006/main">
              <a:ext uri="{FF2B5EF4-FFF2-40B4-BE49-F238E27FC236}">
                <a16:creationId xmlns:a16="http://schemas.microsoft.com/office/drawing/2014/main" id="{7F4EE9A3-3313-4EC5-99B8-47E0421FDA12}"/>
              </a:ext>
            </a:extLst>
          </p:cNvPr>
          <p:cNvSpPr>
            <a:spLocks xmlns:a="http://schemas.openxmlformats.org/drawingml/2006/main" noGrp="1"/>
          </p:cNvSpPr>
          <p:nvPr/>
        </p:nvSpPr>
        <p:spPr>
          <a:xfrm xmlns:a="http://schemas.openxmlformats.org/drawingml/2006/main">
            <a:off x="1466850" y="16383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Sinh viên trái ngành có thể tham gia không?</a:t>
            </a:r>
          </a:p>
        </p:txBody>
      </p:sp>
      <p:sp>
        <p:nvSpPr>
          <p:cNvPr id="7" name="demo-route-0">
            <a:extLst xmlns:a="http://schemas.openxmlformats.org/drawingml/2006/main">
              <a:ext uri="{FF2B5EF4-FFF2-40B4-BE49-F238E27FC236}">
                <a16:creationId xmlns:a16="http://schemas.microsoft.com/office/drawing/2014/main" id="{0E0AEE81-BC56-4B99-81FC-50BEC443254B}"/>
              </a:ext>
            </a:extLst>
          </p:cNvPr>
          <p:cNvSpPr>
            <a:spLocks xmlns:a="http://schemas.openxmlformats.org/drawingml/2006/main" noGrp="1"/>
          </p:cNvSpPr>
          <p:nvPr/>
        </p:nvSpPr>
        <p:spPr>
          <a:xfrm xmlns:a="http://schemas.openxmlformats.org/drawingml/2006/main">
            <a:off x="1466850" y="2162175"/>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A9C7BB"/>
                </a:solidFill>
                <a:latin typeface="Aptos"/>
                <a:ea typeface="Aptos"/>
                <a:cs typeface="Aptos"/>
              </a:defRPr>
            </a:pPr>
            <a:r>
              <a:rPr sz="1275" b="0">
                <a:solidFill>
                  <a:srgbClr val="A9C7BB"/>
                </a:solidFill>
                <a:latin typeface="Aptos"/>
                <a:ea typeface="Aptos"/>
                <a:cs typeface="Aptos"/>
              </a:rPr>
              <a:t>Happy path · local RAG</a:t>
            </a:r>
          </a:p>
        </p:txBody>
      </p:sp>
      <p:sp>
        <p:nvSpPr>
          <p:cNvPr id="8" name="demo-separator-0">
            <a:extLst xmlns:a="http://schemas.openxmlformats.org/drawingml/2006/main">
              <a:ext uri="{FF2B5EF4-FFF2-40B4-BE49-F238E27FC236}">
                <a16:creationId xmlns:a16="http://schemas.microsoft.com/office/drawing/2014/main" id="{D8F37264-1888-4C15-8F28-E4303B889F8B}"/>
              </a:ext>
            </a:extLst>
          </p:cNvPr>
          <p:cNvSpPr>
            <a:spLocks xmlns:a="http://schemas.openxmlformats.org/drawingml/2006/main" noGrp="1"/>
          </p:cNvSpPr>
          <p:nvPr/>
        </p:nvSpPr>
        <p:spPr>
          <a:xfrm xmlns:a="http://schemas.openxmlformats.org/drawingml/2006/main">
            <a:off x="1466850" y="2571750"/>
            <a:ext cx="9334500" cy="9525"/>
          </a:xfrm>
          <a:prstGeom xmlns:a="http://schemas.openxmlformats.org/drawingml/2006/main" prst="rect">
            <a:avLst/>
          </a:prstGeom>
          <a:solidFill xmlns:a="http://schemas.openxmlformats.org/drawingml/2006/main">
            <a:srgbClr val="294439"/>
          </a:solidFill>
          <a:ln xmlns:a="http://schemas.openxmlformats.org/drawingml/2006/main" w="0">
            <a:noFill/>
            <a:prstDash val="solid"/>
          </a:ln>
        </p:spPr>
      </p:sp>
      <p:sp>
        <p:nvSpPr>
          <p:cNvPr id="9" name="demo-num-1">
            <a:extLst xmlns:a="http://schemas.openxmlformats.org/drawingml/2006/main">
              <a:ext uri="{FF2B5EF4-FFF2-40B4-BE49-F238E27FC236}">
                <a16:creationId xmlns:a16="http://schemas.microsoft.com/office/drawing/2014/main" id="{4C5B6FCD-77E7-4D4E-99DB-A638AE988FBD}"/>
              </a:ext>
            </a:extLst>
          </p:cNvPr>
          <p:cNvSpPr>
            <a:spLocks xmlns:a="http://schemas.openxmlformats.org/drawingml/2006/main" noGrp="1"/>
          </p:cNvSpPr>
          <p:nvPr/>
        </p:nvSpPr>
        <p:spPr>
          <a:xfrm xmlns:a="http://schemas.openxmlformats.org/drawingml/2006/main">
            <a:off x="647700" y="278130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625" b="1">
                <a:solidFill>
                  <a:srgbClr val="F0B44D"/>
                </a:solidFill>
                <a:latin typeface="Aptos Display"/>
                <a:ea typeface="Aptos Display"/>
                <a:cs typeface="Aptos Display"/>
              </a:defRPr>
            </a:pPr>
            <a:r>
              <a:rPr sz="2625" b="1">
                <a:solidFill>
                  <a:srgbClr val="F0B44D"/>
                </a:solidFill>
                <a:latin typeface="Aptos Display"/>
                <a:ea typeface="Aptos Display"/>
                <a:cs typeface="Aptos Display"/>
              </a:rPr>
              <a:t>02</a:t>
            </a:r>
          </a:p>
        </p:txBody>
      </p:sp>
      <p:sp>
        <p:nvSpPr>
          <p:cNvPr id="10" name="demo-q-1">
            <a:extLst xmlns:a="http://schemas.openxmlformats.org/drawingml/2006/main">
              <a:ext uri="{FF2B5EF4-FFF2-40B4-BE49-F238E27FC236}">
                <a16:creationId xmlns:a16="http://schemas.microsoft.com/office/drawing/2014/main" id="{A6A0DBEA-09DB-4B23-A102-49AE47FAF0B4}"/>
              </a:ext>
            </a:extLst>
          </p:cNvPr>
          <p:cNvSpPr>
            <a:spLocks xmlns:a="http://schemas.openxmlformats.org/drawingml/2006/main" noGrp="1"/>
          </p:cNvSpPr>
          <p:nvPr/>
        </p:nvSpPr>
        <p:spPr>
          <a:xfrm xmlns:a="http://schemas.openxmlformats.org/drawingml/2006/main">
            <a:off x="1466850" y="27622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Lịch học khóa hiện tại là khi nào?</a:t>
            </a:r>
          </a:p>
        </p:txBody>
      </p:sp>
      <p:sp>
        <p:nvSpPr>
          <p:cNvPr id="11" name="demo-route-1">
            <a:extLst xmlns:a="http://schemas.openxmlformats.org/drawingml/2006/main">
              <a:ext uri="{FF2B5EF4-FFF2-40B4-BE49-F238E27FC236}">
                <a16:creationId xmlns:a16="http://schemas.microsoft.com/office/drawing/2014/main" id="{85AF708B-1308-4A0E-B2B4-C86F6B265D34}"/>
              </a:ext>
            </a:extLst>
          </p:cNvPr>
          <p:cNvSpPr>
            <a:spLocks xmlns:a="http://schemas.openxmlformats.org/drawingml/2006/main" noGrp="1"/>
          </p:cNvSpPr>
          <p:nvPr/>
        </p:nvSpPr>
        <p:spPr>
          <a:xfrm xmlns:a="http://schemas.openxmlformats.org/drawingml/2006/main">
            <a:off x="1466850" y="3286125"/>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A9C7BB"/>
                </a:solidFill>
                <a:latin typeface="Aptos"/>
                <a:ea typeface="Aptos"/>
                <a:cs typeface="Aptos"/>
              </a:defRPr>
            </a:pPr>
            <a:r>
              <a:rPr sz="1275" b="0">
                <a:solidFill>
                  <a:srgbClr val="A9C7BB"/>
                </a:solidFill>
                <a:latin typeface="Aptos"/>
                <a:ea typeface="Aptos"/>
                <a:cs typeface="Aptos"/>
              </a:rPr>
              <a:t>Thông tin mới · official tools / xác minh</a:t>
            </a:r>
          </a:p>
        </p:txBody>
      </p:sp>
      <p:sp>
        <p:nvSpPr>
          <p:cNvPr id="12" name="demo-separator-1">
            <a:extLst xmlns:a="http://schemas.openxmlformats.org/drawingml/2006/main">
              <a:ext uri="{FF2B5EF4-FFF2-40B4-BE49-F238E27FC236}">
                <a16:creationId xmlns:a16="http://schemas.microsoft.com/office/drawing/2014/main" id="{3E7AD142-9283-46A7-B1CF-5BC1CD4008FC}"/>
              </a:ext>
            </a:extLst>
          </p:cNvPr>
          <p:cNvSpPr>
            <a:spLocks xmlns:a="http://schemas.openxmlformats.org/drawingml/2006/main" noGrp="1"/>
          </p:cNvSpPr>
          <p:nvPr/>
        </p:nvSpPr>
        <p:spPr>
          <a:xfrm xmlns:a="http://schemas.openxmlformats.org/drawingml/2006/main">
            <a:off x="1466850" y="3695700"/>
            <a:ext cx="9334500" cy="9525"/>
          </a:xfrm>
          <a:prstGeom xmlns:a="http://schemas.openxmlformats.org/drawingml/2006/main" prst="rect">
            <a:avLst/>
          </a:prstGeom>
          <a:solidFill xmlns:a="http://schemas.openxmlformats.org/drawingml/2006/main">
            <a:srgbClr val="294439"/>
          </a:solidFill>
          <a:ln xmlns:a="http://schemas.openxmlformats.org/drawingml/2006/main" w="0">
            <a:noFill/>
            <a:prstDash val="solid"/>
          </a:ln>
        </p:spPr>
      </p:sp>
      <p:sp>
        <p:nvSpPr>
          <p:cNvPr id="13" name="demo-num-2">
            <a:extLst xmlns:a="http://schemas.openxmlformats.org/drawingml/2006/main">
              <a:ext uri="{FF2B5EF4-FFF2-40B4-BE49-F238E27FC236}">
                <a16:creationId xmlns:a16="http://schemas.microsoft.com/office/drawing/2014/main" id="{45B9DB9E-5035-4DF4-89DE-BEF78437305A}"/>
              </a:ext>
            </a:extLst>
          </p:cNvPr>
          <p:cNvSpPr>
            <a:spLocks xmlns:a="http://schemas.openxmlformats.org/drawingml/2006/main" noGrp="1"/>
          </p:cNvSpPr>
          <p:nvPr/>
        </p:nvSpPr>
        <p:spPr>
          <a:xfrm xmlns:a="http://schemas.openxmlformats.org/drawingml/2006/main">
            <a:off x="647700" y="390525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625" b="1">
                <a:solidFill>
                  <a:srgbClr val="F0B44D"/>
                </a:solidFill>
                <a:latin typeface="Aptos Display"/>
                <a:ea typeface="Aptos Display"/>
                <a:cs typeface="Aptos Display"/>
              </a:defRPr>
            </a:pPr>
            <a:r>
              <a:rPr sz="2625" b="1">
                <a:solidFill>
                  <a:srgbClr val="F0B44D"/>
                </a:solidFill>
                <a:latin typeface="Aptos Display"/>
                <a:ea typeface="Aptos Display"/>
                <a:cs typeface="Aptos Display"/>
              </a:rPr>
              <a:t>03</a:t>
            </a:r>
          </a:p>
        </p:txBody>
      </p:sp>
      <p:sp>
        <p:nvSpPr>
          <p:cNvPr id="14" name="demo-q-2">
            <a:extLst xmlns:a="http://schemas.openxmlformats.org/drawingml/2006/main">
              <a:ext uri="{FF2B5EF4-FFF2-40B4-BE49-F238E27FC236}">
                <a16:creationId xmlns:a16="http://schemas.microsoft.com/office/drawing/2014/main" id="{9AEACC18-ACDD-4C2A-92B3-4E0164C05B61}"/>
              </a:ext>
            </a:extLst>
          </p:cNvPr>
          <p:cNvSpPr>
            <a:spLocks xmlns:a="http://schemas.openxmlformats.org/drawingml/2006/main" noGrp="1"/>
          </p:cNvSpPr>
          <p:nvPr/>
        </p:nvSpPr>
        <p:spPr>
          <a:xfrm xmlns:a="http://schemas.openxmlformats.org/drawingml/2006/main">
            <a:off x="1466850" y="3886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Hãy đổi deadline cho tôi.</a:t>
            </a:r>
          </a:p>
        </p:txBody>
      </p:sp>
      <p:sp>
        <p:nvSpPr>
          <p:cNvPr id="15" name="demo-route-2">
            <a:extLst xmlns:a="http://schemas.openxmlformats.org/drawingml/2006/main">
              <a:ext uri="{FF2B5EF4-FFF2-40B4-BE49-F238E27FC236}">
                <a16:creationId xmlns:a16="http://schemas.microsoft.com/office/drawing/2014/main" id="{17D1ABE7-2458-4361-BD3B-1F19A1FBD616}"/>
              </a:ext>
            </a:extLst>
          </p:cNvPr>
          <p:cNvSpPr>
            <a:spLocks xmlns:a="http://schemas.openxmlformats.org/drawingml/2006/main" noGrp="1"/>
          </p:cNvSpPr>
          <p:nvPr/>
        </p:nvSpPr>
        <p:spPr>
          <a:xfrm xmlns:a="http://schemas.openxmlformats.org/drawingml/2006/main">
            <a:off x="1466850" y="4410075"/>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A9C7BB"/>
                </a:solidFill>
                <a:latin typeface="Aptos"/>
                <a:ea typeface="Aptos"/>
                <a:cs typeface="Aptos"/>
              </a:defRPr>
            </a:pPr>
            <a:r>
              <a:rPr sz="1275" b="0">
                <a:solidFill>
                  <a:srgbClr val="A9C7BB"/>
                </a:solidFill>
                <a:latin typeface="Aptos"/>
                <a:ea typeface="Aptos"/>
                <a:cs typeface="Aptos"/>
              </a:rPr>
              <a:t>Ngoài thẩm quyền · safe handoff</a:t>
            </a:r>
          </a:p>
        </p:txBody>
      </p:sp>
      <p:sp>
        <p:nvSpPr>
          <p:cNvPr id="16" name="demo-close">
            <a:extLst xmlns:a="http://schemas.openxmlformats.org/drawingml/2006/main">
              <a:ext uri="{FF2B5EF4-FFF2-40B4-BE49-F238E27FC236}">
                <a16:creationId xmlns:a16="http://schemas.microsoft.com/office/drawing/2014/main" id="{65EF2F8F-1246-4172-AE7D-A319137D703E}"/>
              </a:ext>
            </a:extLst>
          </p:cNvPr>
          <p:cNvSpPr>
            <a:spLocks xmlns:a="http://schemas.openxmlformats.org/drawingml/2006/main" noGrp="1"/>
          </p:cNvSpPr>
          <p:nvPr/>
        </p:nvSpPr>
        <p:spPr>
          <a:xfrm xmlns:a="http://schemas.openxmlformats.org/drawingml/2006/main">
            <a:off x="628650" y="5400675"/>
            <a:ext cx="819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75" b="1">
                <a:solidFill>
                  <a:srgbClr val="FFFFFF"/>
                </a:solidFill>
                <a:latin typeface="Aptos Display"/>
                <a:ea typeface="Aptos Display"/>
                <a:cs typeface="Aptos Display"/>
              </a:defRPr>
            </a:pPr>
            <a:r>
              <a:rPr sz="2775" b="1">
                <a:solidFill>
                  <a:srgbClr val="FFFFFF"/>
                </a:solidFill>
                <a:latin typeface="Aptos Display"/>
                <a:ea typeface="Aptos Display"/>
                <a:cs typeface="Aptos Display"/>
              </a:rPr>
              <a:t>Biết khi nào trả lời. Biết khi nào phải dừng.</a:t>
            </a:r>
          </a:p>
        </p:txBody>
      </p:sp>
      <p:sp>
        <p:nvSpPr>
          <p:cNvPr id="17" name="demo-team">
            <a:extLst xmlns:a="http://schemas.openxmlformats.org/drawingml/2006/main">
              <a:ext uri="{FF2B5EF4-FFF2-40B4-BE49-F238E27FC236}">
                <a16:creationId xmlns:a16="http://schemas.microsoft.com/office/drawing/2014/main" id="{18D8056F-9F5E-493C-A5FC-AA0EFA2EE01C}"/>
              </a:ext>
            </a:extLst>
          </p:cNvPr>
          <p:cNvSpPr>
            <a:spLocks xmlns:a="http://schemas.openxmlformats.org/drawingml/2006/main" noGrp="1"/>
          </p:cNvSpPr>
          <p:nvPr/>
        </p:nvSpPr>
        <p:spPr>
          <a:xfrm xmlns:a="http://schemas.openxmlformats.org/drawingml/2006/main">
            <a:off x="628650" y="6038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A9C7BB"/>
                </a:solidFill>
                <a:latin typeface="Aptos"/>
                <a:ea typeface="Aptos"/>
                <a:cs typeface="Aptos"/>
              </a:defRPr>
            </a:pPr>
            <a:r>
              <a:rPr sz="1125" b="0">
                <a:solidFill>
                  <a:srgbClr val="A9C7BB"/>
                </a:solidFill>
                <a:latin typeface="Aptos"/>
                <a:ea typeface="Aptos"/>
                <a:cs typeface="Aptos"/>
              </a:rPr>
              <a:t>Nguyễn Văn Nam · Nguyễn Đàm Kiên · Lê Nguyễn Phước Thành · Lê Kim Tính · Trần Chí Hiển</a:t>
            </a:r>
          </a:p>
        </p:txBody>
      </p:sp>
    </p:spTree>
    <p:extLst>
      <p:ext uri="{BB962C8B-B14F-4D97-AF65-F5344CB8AC3E}">
        <p14:creationId xmlns:p14="http://schemas.microsoft.com/office/powerpoint/2010/main" val="1473704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2026-07-31T04:19:38.5470000Z</dcterms:created>
  <dcterms:modified xsi:type="dcterms:W3CDTF">2026-07-31T04:19:38.5470000Z</dcterms:modified>
</coreProperties>
</file>